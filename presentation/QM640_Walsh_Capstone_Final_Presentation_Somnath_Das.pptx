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7" r:id="rId1"/>
  </p:sldMasterIdLst>
  <p:notesMasterIdLst>
    <p:notesMasterId r:id="rId16"/>
  </p:notesMasterIdLst>
  <p:sldIdLst>
    <p:sldId id="296" r:id="rId2"/>
    <p:sldId id="289" r:id="rId3"/>
    <p:sldId id="276" r:id="rId4"/>
    <p:sldId id="291" r:id="rId5"/>
    <p:sldId id="297" r:id="rId6"/>
    <p:sldId id="279" r:id="rId7"/>
    <p:sldId id="280" r:id="rId8"/>
    <p:sldId id="302" r:id="rId9"/>
    <p:sldId id="298" r:id="rId10"/>
    <p:sldId id="294" r:id="rId11"/>
    <p:sldId id="299" r:id="rId12"/>
    <p:sldId id="285" r:id="rId13"/>
    <p:sldId id="286" r:id="rId14"/>
    <p:sldId id="287" r:id="rId15"/>
  </p:sldIdLst>
  <p:sldSz cx="9144000" cy="5143500" type="screen16x9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Raleway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6814" autoAdjust="0"/>
  </p:normalViewPr>
  <p:slideViewPr>
    <p:cSldViewPr snapToGrid="0">
      <p:cViewPr varScale="1">
        <p:scale>
          <a:sx n="161" d="100"/>
          <a:sy n="161" d="100"/>
        </p:scale>
        <p:origin x="156" y="324"/>
      </p:cViewPr>
      <p:guideLst>
        <p:guide orient="horz" pos="162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100" b="1"/>
              <a:t>Outcome Balance (Development Set)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records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A9988"/>
              </a:solidFill>
            </c:spPr>
            <c:extLst>
              <c:ext xmlns:c16="http://schemas.microsoft.com/office/drawing/2014/chart" uri="{C3380CC4-5D6E-409C-BE32-E72D297353CC}">
                <c16:uniqueId val="{00000001-FE16-436D-AC28-2FE0F82430F0}"/>
              </c:ext>
            </c:extLst>
          </c:dPt>
          <c:dPt>
            <c:idx val="1"/>
            <c:invertIfNegative val="1"/>
            <c:bubble3D val="0"/>
            <c:spPr>
              <a:solidFill>
                <a:srgbClr val="E9EDEE"/>
              </a:solidFill>
            </c:spPr>
            <c:extLst>
              <c:ext xmlns:c16="http://schemas.microsoft.com/office/drawing/2014/chart" uri="{C3380CC4-5D6E-409C-BE32-E72D297353CC}">
                <c16:uniqueId val="{00000003-FE16-436D-AC28-2FE0F82430F0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Meaningful reduction</c:v>
                </c:pt>
                <c:pt idx="1">
                  <c:v>No meaningful reduction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31.5</c:v>
                </c:pt>
                <c:pt idx="1">
                  <c:v>68.5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16-436D-AC28-2FE0F82430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/>
              <a:t>Reduction Rate by Action-Year Transition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Meaningful reduction rate</c:v>
                </c:pt>
              </c:strCache>
            </c:strRef>
          </c:tx>
          <c:spPr>
            <a:solidFill>
              <a:srgbClr val="1C3678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Earliest</c:v>
                </c:pt>
                <c:pt idx="1">
                  <c:v>Middle</c:v>
                </c:pt>
                <c:pt idx="2">
                  <c:v>Most recent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27.5</c:v>
                </c:pt>
                <c:pt idx="1">
                  <c:v>31.1</c:v>
                </c:pt>
                <c:pt idx="2">
                  <c:v>35.9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AD1-48B2-8CAE-1AB3EE329B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/>
              <a:t>Reduction Rate by Action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Reduction rate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7BDBE"/>
              </a:solidFill>
            </c:spPr>
            <c:extLst>
              <c:ext xmlns:c16="http://schemas.microsoft.com/office/drawing/2014/chart" uri="{C3380CC4-5D6E-409C-BE32-E72D297353CC}">
                <c16:uniqueId val="{00000001-1E60-4359-A73D-4D8408405DE3}"/>
              </c:ext>
            </c:extLst>
          </c:dPt>
          <c:dPt>
            <c:idx val="1"/>
            <c:invertIfNegative val="1"/>
            <c:bubble3D val="0"/>
            <c:spPr>
              <a:solidFill>
                <a:srgbClr val="B7BDBE"/>
              </a:solidFill>
            </c:spPr>
            <c:extLst>
              <c:ext xmlns:c16="http://schemas.microsoft.com/office/drawing/2014/chart" uri="{C3380CC4-5D6E-409C-BE32-E72D297353CC}">
                <c16:uniqueId val="{00000003-1E60-4359-A73D-4D8408405DE3}"/>
              </c:ext>
            </c:extLst>
          </c:dPt>
          <c:dPt>
            <c:idx val="2"/>
            <c:invertIfNegative val="1"/>
            <c:bubble3D val="0"/>
            <c:spPr>
              <a:solidFill>
                <a:srgbClr val="B7BDBE"/>
              </a:solidFill>
            </c:spPr>
            <c:extLst>
              <c:ext xmlns:c16="http://schemas.microsoft.com/office/drawing/2014/chart" uri="{C3380CC4-5D6E-409C-BE32-E72D297353CC}">
                <c16:uniqueId val="{00000005-1E60-4359-A73D-4D8408405DE3}"/>
              </c:ext>
            </c:extLst>
          </c:dPt>
          <c:dPt>
            <c:idx val="3"/>
            <c:invertIfNegative val="1"/>
            <c:bubble3D val="0"/>
            <c:spPr>
              <a:solidFill>
                <a:srgbClr val="B7BDBE"/>
              </a:solidFill>
            </c:spPr>
            <c:extLst>
              <c:ext xmlns:c16="http://schemas.microsoft.com/office/drawing/2014/chart" uri="{C3380CC4-5D6E-409C-BE32-E72D297353CC}">
                <c16:uniqueId val="{00000007-1E60-4359-A73D-4D8408405DE3}"/>
              </c:ext>
            </c:extLst>
          </c:dPt>
          <c:dPt>
            <c:idx val="4"/>
            <c:invertIfNegative val="1"/>
            <c:bubble3D val="0"/>
            <c:spPr>
              <a:solidFill>
                <a:srgbClr val="1A9988"/>
              </a:solidFill>
            </c:spPr>
            <c:extLst>
              <c:ext xmlns:c16="http://schemas.microsoft.com/office/drawing/2014/chart" uri="{C3380CC4-5D6E-409C-BE32-E72D297353CC}">
                <c16:uniqueId val="{00000009-1E60-4359-A73D-4D8408405DE3}"/>
              </c:ext>
            </c:extLst>
          </c:dPt>
          <c:dPt>
            <c:idx val="5"/>
            <c:invertIfNegative val="1"/>
            <c:bubble3D val="0"/>
            <c:spPr>
              <a:solidFill>
                <a:srgbClr val="1A9988"/>
              </a:solidFill>
            </c:spPr>
            <c:extLst>
              <c:ext xmlns:c16="http://schemas.microsoft.com/office/drawing/2014/chart" uri="{C3380CC4-5D6E-409C-BE32-E72D297353CC}">
                <c16:uniqueId val="{0000000B-1E60-4359-A73D-4D8408405DE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 action</c:v>
                </c:pt>
                <c:pt idx="1">
                  <c:v>Product
mod.</c:v>
                </c:pt>
                <c:pt idx="2">
                  <c:v>Process/
equip.</c:v>
                </c:pt>
                <c:pt idx="3">
                  <c:v>Inventory</c:v>
                </c:pt>
                <c:pt idx="4">
                  <c:v>Operating
practice</c:v>
                </c:pt>
                <c:pt idx="5">
                  <c:v>Material
mod.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31.3</c:v>
                </c:pt>
                <c:pt idx="1">
                  <c:v>32.4</c:v>
                </c:pt>
                <c:pt idx="2">
                  <c:v>33.200000000000003</c:v>
                </c:pt>
                <c:pt idx="3">
                  <c:v>33.5</c:v>
                </c:pt>
                <c:pt idx="4">
                  <c:v>35.5</c:v>
                </c:pt>
                <c:pt idx="5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E60-4359-A73D-4D8408405D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050" b="1"/>
              <a:t>Screening Lift: Non-Reduction Rate by Review Depth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Non-reduction rate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C3678"/>
              </a:solidFill>
            </c:spPr>
            <c:extLst>
              <c:ext xmlns:c16="http://schemas.microsoft.com/office/drawing/2014/chart" uri="{C3380CC4-5D6E-409C-BE32-E72D297353CC}">
                <c16:uniqueId val="{00000001-EB5D-4387-8354-41500F6D3B50}"/>
              </c:ext>
            </c:extLst>
          </c:dPt>
          <c:dPt>
            <c:idx val="1"/>
            <c:invertIfNegative val="1"/>
            <c:bubble3D val="0"/>
            <c:spPr>
              <a:solidFill>
                <a:srgbClr val="1C3678"/>
              </a:solidFill>
            </c:spPr>
            <c:extLst>
              <c:ext xmlns:c16="http://schemas.microsoft.com/office/drawing/2014/chart" uri="{C3380CC4-5D6E-409C-BE32-E72D297353CC}">
                <c16:uniqueId val="{00000003-EB5D-4387-8354-41500F6D3B50}"/>
              </c:ext>
            </c:extLst>
          </c:dPt>
          <c:dPt>
            <c:idx val="2"/>
            <c:invertIfNegative val="1"/>
            <c:bubble3D val="0"/>
            <c:spPr>
              <a:solidFill>
                <a:srgbClr val="6AA4C8"/>
              </a:solidFill>
            </c:spPr>
            <c:extLst>
              <c:ext xmlns:c16="http://schemas.microsoft.com/office/drawing/2014/chart" uri="{C3380CC4-5D6E-409C-BE32-E72D297353CC}">
                <c16:uniqueId val="{00000005-EB5D-4387-8354-41500F6D3B50}"/>
              </c:ext>
            </c:extLst>
          </c:dPt>
          <c:dPt>
            <c:idx val="3"/>
            <c:invertIfNegative val="1"/>
            <c:bubble3D val="0"/>
            <c:spPr>
              <a:solidFill>
                <a:srgbClr val="6AA4C8"/>
              </a:solidFill>
            </c:spPr>
            <c:extLst>
              <c:ext xmlns:c16="http://schemas.microsoft.com/office/drawing/2014/chart" uri="{C3380CC4-5D6E-409C-BE32-E72D297353CC}">
                <c16:uniqueId val="{00000007-EB5D-4387-8354-41500F6D3B50}"/>
              </c:ext>
            </c:extLst>
          </c:dPt>
          <c:dPt>
            <c:idx val="4"/>
            <c:invertIfNegative val="1"/>
            <c:bubble3D val="0"/>
            <c:spPr>
              <a:solidFill>
                <a:srgbClr val="B7BDBE"/>
              </a:solidFill>
            </c:spPr>
            <c:extLst>
              <c:ext xmlns:c16="http://schemas.microsoft.com/office/drawing/2014/chart" uri="{C3380CC4-5D6E-409C-BE32-E72D297353CC}">
                <c16:uniqueId val="{00000009-EB5D-4387-8354-41500F6D3B5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Top 5%</c:v>
                </c:pt>
                <c:pt idx="1">
                  <c:v>Top 10%</c:v>
                </c:pt>
                <c:pt idx="2">
                  <c:v>Top 20%</c:v>
                </c:pt>
                <c:pt idx="3">
                  <c:v>Top 30%</c:v>
                </c:pt>
                <c:pt idx="4">
                  <c:v>All records
(base rate)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73.900000000000006</c:v>
                </c:pt>
                <c:pt idx="1">
                  <c:v>72.5</c:v>
                </c:pt>
                <c:pt idx="2">
                  <c:v>71.400000000000006</c:v>
                </c:pt>
                <c:pt idx="3">
                  <c:v>70.7</c:v>
                </c:pt>
                <c:pt idx="4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B5D-4387-8354-41500F6D3B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b453ca69b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b453ca69b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300" b="1" dirty="0"/>
              <a:t>TITLE</a:t>
            </a:r>
            <a:r>
              <a:rPr sz="1300" b="0" dirty="0"/>
              <a:t>  |  15 sec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SAY</a:t>
            </a:r>
          </a:p>
          <a:p>
            <a:r>
              <a:rPr sz="1300" b="0" dirty="0"/>
              <a:t>• Good evening, everyone. I'm Somnath Das.</a:t>
            </a:r>
          </a:p>
          <a:p>
            <a:r>
              <a:rPr sz="1300" b="0" dirty="0"/>
              <a:t>• This is my QM640 capstone at Walsh College, mentored by Rishab Pandey.</a:t>
            </a:r>
          </a:p>
          <a:p>
            <a:r>
              <a:rPr sz="1300" b="0" dirty="0"/>
              <a:t>• The topic is </a:t>
            </a:r>
            <a:r>
              <a:rPr sz="1300" b="1" dirty="0"/>
              <a:t>pollution-prevention actions and next-year toxic release reduction</a:t>
            </a:r>
            <a:r>
              <a:rPr sz="1300" b="0" dirty="0"/>
              <a:t> in US manufacturing.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REMEMBER</a:t>
            </a:r>
          </a:p>
          <a:p>
            <a:r>
              <a:rPr sz="1300" b="0" dirty="0"/>
              <a:t>• Warm, short, move on. This is a doorway, not content.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b453ca6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b453ca6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sz="1500" b="1" dirty="0"/>
              <a:t>EXECUTIVE SUMMARY</a:t>
            </a:r>
            <a:r>
              <a:rPr sz="1500" b="0" dirty="0"/>
              <a:t>  |  40 sec  |  </a:t>
            </a:r>
            <a:r>
              <a:rPr sz="1500" b="1" dirty="0"/>
              <a:t>THIS IS THE ELEVATOR PITCH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SAY</a:t>
            </a:r>
          </a:p>
          <a:p>
            <a:r>
              <a:rPr sz="1300" b="0" dirty="0"/>
              <a:t>• Here is the whole project</a:t>
            </a:r>
            <a:r>
              <a:rPr lang="en-US" sz="1300" b="0" dirty="0"/>
              <a:t>. </a:t>
            </a:r>
            <a:r>
              <a:rPr sz="1300" b="0" dirty="0"/>
              <a:t>.</a:t>
            </a:r>
          </a:p>
          <a:p>
            <a:r>
              <a:rPr sz="1300" b="0" dirty="0"/>
              <a:t>• Every year, US manufacturers tell the </a:t>
            </a:r>
            <a:r>
              <a:rPr lang="en-IN" sz="1300" b="1" dirty="0"/>
              <a:t>Environmental Protection Agency </a:t>
            </a:r>
            <a:r>
              <a:rPr lang="en-IN" sz="1300" b="0" dirty="0"/>
              <a:t>-</a:t>
            </a:r>
            <a:r>
              <a:rPr sz="1300" b="0" dirty="0"/>
              <a:t>EPA two things. How much of each toxic chemical they released, and whether they took any steps to prevent pollution.</a:t>
            </a:r>
          </a:p>
          <a:p>
            <a:r>
              <a:rPr sz="1300" b="0" dirty="0"/>
              <a:t>• That is tens of thousands of filings. An EHS team has time to review a few hundred. Today they choose those few hundred </a:t>
            </a:r>
            <a:r>
              <a:rPr sz="1300" b="1" dirty="0"/>
              <a:t>largely by habit</a:t>
            </a:r>
            <a:r>
              <a:rPr sz="1300" b="0" dirty="0"/>
              <a:t>.</a:t>
            </a:r>
          </a:p>
          <a:p>
            <a:r>
              <a:rPr sz="1300" b="0" dirty="0"/>
              <a:t>• So I asked two </a:t>
            </a:r>
            <a:r>
              <a:rPr lang="en-US" sz="1300" b="0" dirty="0"/>
              <a:t>un</a:t>
            </a:r>
            <a:r>
              <a:rPr lang="en-IN" sz="1300" b="0" dirty="0"/>
              <a:t>ambiguous defined </a:t>
            </a:r>
            <a:r>
              <a:rPr sz="1300" b="0" dirty="0"/>
              <a:t>questions. </a:t>
            </a:r>
            <a:r>
              <a:rPr sz="1300" b="1" dirty="0"/>
              <a:t>Do reported prevention actions actually show up as lower releases the next year?</a:t>
            </a:r>
            <a:r>
              <a:rPr sz="1300" b="0" dirty="0"/>
              <a:t> And </a:t>
            </a:r>
            <a:r>
              <a:rPr sz="1300" b="1" dirty="0"/>
              <a:t>can we tell in advance which facilities will fall short?</a:t>
            </a:r>
          </a:p>
          <a:p>
            <a:r>
              <a:rPr sz="1300" b="0" dirty="0"/>
              <a:t>• A </a:t>
            </a:r>
            <a:r>
              <a:rPr sz="1300" b="1" dirty="0"/>
              <a:t>record</a:t>
            </a:r>
            <a:r>
              <a:rPr sz="1300" b="0" dirty="0"/>
              <a:t> is one chemical, at one plant, in one year. A </a:t>
            </a:r>
            <a:r>
              <a:rPr sz="1300" b="1" dirty="0"/>
              <a:t>meaningful reduction</a:t>
            </a:r>
            <a:r>
              <a:rPr sz="1300" b="0" dirty="0"/>
              <a:t> is a drop of at least </a:t>
            </a:r>
            <a:r>
              <a:rPr lang="en-US" sz="1300" b="0" dirty="0"/>
              <a:t>10 %</a:t>
            </a:r>
            <a:r>
              <a:rPr sz="1300" b="0" dirty="0"/>
              <a:t>.</a:t>
            </a:r>
          </a:p>
          <a:p>
            <a:r>
              <a:rPr sz="1300" b="0" dirty="0"/>
              <a:t>• My answer, upfront: actions carry real signal, but a modest one. So what I built is a </a:t>
            </a:r>
            <a:r>
              <a:rPr sz="1300" b="1" dirty="0"/>
              <a:t>ranked worklist</a:t>
            </a:r>
            <a:r>
              <a:rPr sz="1300" b="0" dirty="0"/>
              <a:t> that tells a team where to look first.</a:t>
            </a:r>
          </a:p>
          <a:p>
            <a:r>
              <a:rPr sz="1300" b="0" dirty="0"/>
              <a:t>• It supports the </a:t>
            </a:r>
            <a:r>
              <a:rPr lang="en-US" sz="1300" b="0" dirty="0"/>
              <a:t>EHS </a:t>
            </a:r>
            <a:r>
              <a:rPr sz="1300" b="0" dirty="0"/>
              <a:t>expert</a:t>
            </a:r>
            <a:r>
              <a:rPr lang="en-US" sz="1300" b="0" dirty="0"/>
              <a:t> </a:t>
            </a:r>
            <a:r>
              <a:rPr sz="1300" b="0" dirty="0"/>
              <a:t>. </a:t>
            </a:r>
            <a:r>
              <a:rPr sz="1300" b="1" dirty="0"/>
              <a:t>It does not replace them.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REMEMBER</a:t>
            </a:r>
          </a:p>
          <a:p>
            <a:r>
              <a:rPr sz="1300" b="0" dirty="0"/>
              <a:t>• If they stop me right here, they still have the whole story. Say it like that.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LIKELY QUESTIONS</a:t>
            </a:r>
          </a:p>
          <a:p>
            <a:r>
              <a:rPr sz="1300" b="0" dirty="0"/>
              <a:t>→ </a:t>
            </a:r>
            <a:r>
              <a:rPr sz="1300" b="1" dirty="0"/>
              <a:t>What is the business value?</a:t>
            </a:r>
            <a:r>
              <a:rPr sz="1300" b="0" dirty="0"/>
              <a:t>  Same review hours, better hit rate, and effort steered toward the biggest releases rather than the loudest complaints.</a:t>
            </a:r>
          </a:p>
          <a:p>
            <a:r>
              <a:rPr sz="1300" b="0" dirty="0"/>
              <a:t>→ </a:t>
            </a:r>
            <a:r>
              <a:rPr sz="1300" b="1" dirty="0"/>
              <a:t>Why would a company care, not just a regulator?</a:t>
            </a:r>
            <a:r>
              <a:rPr sz="1300" b="0" dirty="0"/>
              <a:t>  The same ranked list feeds sustainability reporting and green investment planning.</a:t>
            </a:r>
          </a:p>
          <a:p>
            <a:r>
              <a:rPr sz="1300" b="0" dirty="0"/>
              <a:t>→ </a:t>
            </a:r>
            <a:r>
              <a:rPr sz="1300" b="1" dirty="0"/>
              <a:t>Why ten percent?</a:t>
            </a:r>
            <a:r>
              <a:rPr sz="1300" b="0" dirty="0"/>
              <a:t>  A materiality threshold, fixed before any analysis, so I could not tune it to get a result I liked.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b453ca69b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b453ca69b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300" b="1" dirty="0"/>
              <a:t>GAP ANALYSIS</a:t>
            </a:r>
            <a:r>
              <a:rPr sz="1300" b="0" dirty="0"/>
              <a:t>  |  35 sec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SAY</a:t>
            </a:r>
          </a:p>
          <a:p>
            <a:r>
              <a:rPr sz="1300" b="0" dirty="0"/>
              <a:t>• </a:t>
            </a:r>
            <a:r>
              <a:rPr lang="en-US" sz="1300" b="0" dirty="0"/>
              <a:t>One might Ask- </a:t>
            </a:r>
            <a:r>
              <a:rPr sz="1300" b="0" dirty="0"/>
              <a:t>Why not simply compare this year to last year? Because </a:t>
            </a:r>
            <a:r>
              <a:rPr lang="en-US" sz="1300" b="1" dirty="0"/>
              <a:t>Toxic</a:t>
            </a:r>
            <a:r>
              <a:rPr lang="en-US" sz="1300" b="0" dirty="0"/>
              <a:t> </a:t>
            </a:r>
            <a:r>
              <a:rPr sz="1300" b="1" dirty="0"/>
              <a:t>releases move for reasons that have nothing to do with prevention</a:t>
            </a:r>
            <a:r>
              <a:rPr sz="1300" b="0" dirty="0"/>
              <a:t>. Production swings. Ordinary noise.</a:t>
            </a:r>
          </a:p>
          <a:p>
            <a:r>
              <a:rPr sz="1300" b="0" dirty="0"/>
              <a:t>• Prior research says the same. </a:t>
            </a:r>
            <a:r>
              <a:rPr sz="1300" b="1" dirty="0"/>
              <a:t>Hamilton</a:t>
            </a:r>
            <a:r>
              <a:rPr sz="1300" b="0" dirty="0"/>
              <a:t>, and </a:t>
            </a:r>
            <a:r>
              <a:rPr sz="1300" b="1" dirty="0"/>
              <a:t>Konar and Cohen</a:t>
            </a:r>
            <a:r>
              <a:rPr sz="1300" b="0" dirty="0"/>
              <a:t>, showed public disclosure by itself changes </a:t>
            </a:r>
            <a:r>
              <a:rPr sz="1300" b="0" dirty="0" err="1"/>
              <a:t>behaviour</a:t>
            </a:r>
            <a:r>
              <a:rPr sz="1300" b="0" dirty="0"/>
              <a:t> and moves markets.</a:t>
            </a:r>
          </a:p>
          <a:p>
            <a:r>
              <a:rPr sz="1300" b="0" dirty="0"/>
              <a:t>• </a:t>
            </a:r>
            <a:r>
              <a:rPr sz="1300" b="1" dirty="0"/>
              <a:t>Gamper-Rabindran </a:t>
            </a:r>
            <a:r>
              <a:rPr sz="1300" b="0" dirty="0"/>
              <a:t>found part of the national decline was a reporting change, not real cleanup.</a:t>
            </a:r>
          </a:p>
          <a:p>
            <a:r>
              <a:rPr sz="1300" b="0" dirty="0"/>
              <a:t>• </a:t>
            </a:r>
            <a:r>
              <a:rPr sz="1300" b="1" dirty="0"/>
              <a:t>King and Lenox </a:t>
            </a:r>
            <a:r>
              <a:rPr sz="1300" b="0" dirty="0"/>
              <a:t>showed prevention is not one undifferentiated thing. Preventing waste pays. Treating it does not.</a:t>
            </a:r>
          </a:p>
          <a:p>
            <a:r>
              <a:rPr sz="1300" b="0" dirty="0"/>
              <a:t>• So the gap is </a:t>
            </a:r>
            <a:r>
              <a:rPr sz="1300" b="1" dirty="0"/>
              <a:t>not knowledge about disclosure</a:t>
            </a:r>
            <a:r>
              <a:rPr sz="1300" b="0" dirty="0"/>
              <a:t>. The gap is that </a:t>
            </a:r>
            <a:r>
              <a:rPr sz="1300" b="1" dirty="0"/>
              <a:t>none of this hands an EHS team something they can use on this year's filings</a:t>
            </a:r>
            <a:r>
              <a:rPr sz="1300" b="0" dirty="0"/>
              <a:t>. That is what I built.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REMEMBER</a:t>
            </a:r>
          </a:p>
          <a:p>
            <a:r>
              <a:rPr sz="1300" b="0" dirty="0"/>
              <a:t>• Raw before-and-after misleads. That single fact justifies every method that follows.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LIKELY QUESTIONS</a:t>
            </a:r>
          </a:p>
          <a:p>
            <a:r>
              <a:rPr sz="1300" b="0" dirty="0"/>
              <a:t>→ </a:t>
            </a:r>
            <a:r>
              <a:rPr sz="1300" b="1" dirty="0"/>
              <a:t>Which study most directly supports your design?</a:t>
            </a:r>
            <a:r>
              <a:rPr sz="1300" b="0" dirty="0"/>
              <a:t>  Gamper-Rabindran 2006. Clearest evidence that unadjusted TRI trends mislead.</a:t>
            </a:r>
          </a:p>
          <a:p>
            <a:r>
              <a:rPr sz="1300" b="0" dirty="0"/>
              <a:t>→ </a:t>
            </a:r>
            <a:r>
              <a:rPr sz="1300" b="1" dirty="0"/>
              <a:t>Which supports separating the action types?</a:t>
            </a:r>
            <a:r>
              <a:rPr sz="1300" b="0" dirty="0"/>
              <a:t>  King and Lenox 2002, and Cagno and colleagues 2005, who </a:t>
            </a:r>
            <a:r>
              <a:rPr sz="1300" b="0" dirty="0" err="1"/>
              <a:t>analysed</a:t>
            </a:r>
            <a:r>
              <a:rPr sz="1300" b="0" dirty="0"/>
              <a:t> 134 prevention projects and found payback varied widely by type.</a:t>
            </a:r>
          </a:p>
          <a:p>
            <a:r>
              <a:rPr sz="1300" b="0" dirty="0"/>
              <a:t>→ </a:t>
            </a:r>
            <a:r>
              <a:rPr sz="1300" b="1" dirty="0"/>
              <a:t>What is the closest prior work?</a:t>
            </a:r>
            <a:r>
              <a:rPr sz="1300" b="0" dirty="0"/>
              <a:t>  Ranson and colleagues 2015. Mine is narrower, more current, and ends in a screening tool rather than an effect estimate.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b453ca69b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b453ca69b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buNone/>
            </a:pPr>
            <a:r>
              <a:rPr sz="1300" b="1" dirty="0"/>
              <a:t>RESEARCH QUESTIONS 1 OF 2</a:t>
            </a:r>
            <a:r>
              <a:rPr sz="1300" b="0" dirty="0"/>
              <a:t>  |  45 sec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SAY</a:t>
            </a:r>
          </a:p>
          <a:p>
            <a:r>
              <a:rPr sz="1300" b="0" dirty="0"/>
              <a:t>• Two questions here. Both are about establishing </a:t>
            </a:r>
            <a:r>
              <a:rPr sz="1300" b="1" dirty="0"/>
              <a:t>what is real</a:t>
            </a:r>
            <a:r>
              <a:rPr sz="1300" b="0" dirty="0"/>
              <a:t>.</a:t>
            </a:r>
          </a:p>
          <a:p>
            <a:r>
              <a:rPr sz="1300" b="0" dirty="0"/>
              <a:t>• The </a:t>
            </a:r>
            <a:r>
              <a:rPr sz="1300" b="1" dirty="0"/>
              <a:t>first</a:t>
            </a:r>
            <a:r>
              <a:rPr sz="1300" b="0" dirty="0"/>
              <a:t> is groundwork. </a:t>
            </a:r>
            <a:r>
              <a:rPr sz="1300" b="1" dirty="0"/>
              <a:t>Do reduction rates differ by year and by industry</a:t>
            </a:r>
            <a:r>
              <a:rPr sz="1300" b="0" dirty="0"/>
              <a:t>? If they do, I have to control for them.</a:t>
            </a:r>
          </a:p>
          <a:p>
            <a:r>
              <a:rPr sz="1300" b="0" dirty="0"/>
              <a:t>• </a:t>
            </a:r>
            <a:r>
              <a:rPr sz="1300" b="1" dirty="0"/>
              <a:t>Chi-square</a:t>
            </a:r>
            <a:r>
              <a:rPr sz="1300" b="0" dirty="0"/>
              <a:t> tests exactly that. But with</a:t>
            </a:r>
            <a:r>
              <a:rPr lang="en-US" sz="1300" b="0" dirty="0"/>
              <a:t> ~125,000</a:t>
            </a:r>
            <a:r>
              <a:rPr sz="1300" b="0" dirty="0"/>
              <a:t> records it calls almost anything significant, so </a:t>
            </a:r>
            <a:r>
              <a:rPr sz="1300" b="1" dirty="0"/>
              <a:t>Cramer's V</a:t>
            </a:r>
            <a:r>
              <a:rPr sz="1300" b="0" dirty="0"/>
              <a:t> asks the second question: is it big enough to act on?</a:t>
            </a:r>
          </a:p>
          <a:p>
            <a:r>
              <a:rPr sz="1300" b="0" dirty="0"/>
              <a:t>• </a:t>
            </a:r>
            <a:r>
              <a:rPr lang="en-US" sz="1300" b="0" dirty="0"/>
              <a:t>We Found</a:t>
            </a:r>
            <a:r>
              <a:rPr sz="1300" b="0" dirty="0"/>
              <a:t>: rates rose </a:t>
            </a:r>
            <a:r>
              <a:rPr sz="1300" b="1" dirty="0"/>
              <a:t>27.5 to 31.1 to 35.9 percent</a:t>
            </a:r>
            <a:r>
              <a:rPr sz="1300" b="0" dirty="0"/>
              <a:t> across the three transitions, and vary about </a:t>
            </a:r>
            <a:r>
              <a:rPr sz="1300" b="1" dirty="0"/>
              <a:t>fifteen points</a:t>
            </a:r>
            <a:r>
              <a:rPr sz="1300" b="0" dirty="0"/>
              <a:t> across subsectors. Both real, both small.</a:t>
            </a:r>
          </a:p>
          <a:p>
            <a:r>
              <a:rPr sz="1300" b="0" dirty="0"/>
              <a:t>• So year and industry become </a:t>
            </a:r>
            <a:r>
              <a:rPr sz="1300" b="1" dirty="0"/>
              <a:t>controls, not findings</a:t>
            </a:r>
            <a:r>
              <a:rPr sz="1300" b="0" dirty="0"/>
              <a:t>.</a:t>
            </a:r>
            <a:endParaRPr lang="en-US" sz="1300" b="0" dirty="0"/>
          </a:p>
          <a:p>
            <a:endParaRPr sz="1300" b="0" dirty="0"/>
          </a:p>
          <a:p>
            <a:r>
              <a:rPr sz="1300" b="0" dirty="0"/>
              <a:t>• The </a:t>
            </a:r>
            <a:r>
              <a:rPr sz="1300" b="1" dirty="0"/>
              <a:t>second</a:t>
            </a:r>
            <a:r>
              <a:rPr sz="1300" b="0" dirty="0"/>
              <a:t> question is the core one. </a:t>
            </a:r>
            <a:r>
              <a:rPr sz="1300" b="1" dirty="0"/>
              <a:t>After adjusting for release volume, production, industry and hazard, is reporting an action associated with reduction</a:t>
            </a:r>
            <a:r>
              <a:rPr sz="1300" b="0" dirty="0"/>
              <a:t>?</a:t>
            </a:r>
          </a:p>
          <a:p>
            <a:r>
              <a:rPr sz="1300" b="0" dirty="0"/>
              <a:t>• </a:t>
            </a:r>
            <a:r>
              <a:rPr sz="1300" b="1" dirty="0"/>
              <a:t>Logistic regression</a:t>
            </a:r>
            <a:r>
              <a:rPr sz="1300" b="0" dirty="0"/>
              <a:t>, because the outcome is yes or no and coefficients become odds ratios a business can act on. </a:t>
            </a:r>
            <a:r>
              <a:rPr lang="en-US" sz="1300" b="0" dirty="0"/>
              <a:t>I have </a:t>
            </a:r>
            <a:r>
              <a:rPr sz="1300" b="1" dirty="0"/>
              <a:t>Clustered by facility</a:t>
            </a:r>
            <a:r>
              <a:rPr sz="1300" b="0" dirty="0"/>
              <a:t>, because one facility appears eight times on average and those rows are not independent.</a:t>
            </a:r>
          </a:p>
          <a:p>
            <a:r>
              <a:rPr sz="1300" b="0" dirty="0"/>
              <a:t>• </a:t>
            </a:r>
            <a:r>
              <a:rPr lang="en-US" sz="1300" b="0" dirty="0"/>
              <a:t>We Found</a:t>
            </a:r>
            <a:r>
              <a:rPr sz="1300" b="0" dirty="0"/>
              <a:t>: odds ratio </a:t>
            </a:r>
            <a:r>
              <a:rPr sz="1300" b="1" dirty="0"/>
              <a:t>1.14</a:t>
            </a:r>
            <a:r>
              <a:rPr sz="1300" b="0" dirty="0"/>
              <a:t>, interval </a:t>
            </a:r>
            <a:r>
              <a:rPr sz="1300" b="1" dirty="0"/>
              <a:t>1.06 to 1.23</a:t>
            </a:r>
            <a:r>
              <a:rPr sz="1300" b="0" dirty="0"/>
              <a:t>. Real, and modest.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REMEMBER</a:t>
            </a:r>
          </a:p>
          <a:p>
            <a:r>
              <a:rPr sz="1300" b="0" dirty="0"/>
              <a:t>• Fourteen percent higher </a:t>
            </a:r>
            <a:r>
              <a:rPr sz="1300" b="1" dirty="0"/>
              <a:t>odds</a:t>
            </a:r>
            <a:r>
              <a:rPr sz="1300" b="0" dirty="0"/>
              <a:t>, not fourteen percent higher </a:t>
            </a:r>
            <a:r>
              <a:rPr sz="1300" b="1" dirty="0"/>
              <a:t>probability</a:t>
            </a:r>
            <a:r>
              <a:rPr sz="1300" b="0" dirty="0"/>
              <a:t>. Keep that sharp.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LIKELY QUESTIONS</a:t>
            </a:r>
          </a:p>
          <a:p>
            <a:r>
              <a:rPr sz="1300" b="0" dirty="0"/>
              <a:t>→ </a:t>
            </a:r>
            <a:r>
              <a:rPr sz="1300" b="1" dirty="0"/>
              <a:t>What is p?</a:t>
            </a:r>
            <a:r>
              <a:rPr sz="1300" b="0" dirty="0"/>
              <a:t>  The chance of seeing a gap this large if there were really no gap. Below .05 is the bar. Mine are below .001.</a:t>
            </a:r>
          </a:p>
          <a:p>
            <a:r>
              <a:rPr sz="1300" b="0" dirty="0"/>
              <a:t>→ </a:t>
            </a:r>
            <a:r>
              <a:rPr sz="1300" b="1" dirty="0"/>
              <a:t>What is V?</a:t>
            </a:r>
            <a:r>
              <a:rPr sz="1300" b="0" dirty="0"/>
              <a:t>  Cramer's V, the size of the effect, 0 to 1. About 0.1 small, 0.3 moderate. Mine are 0.073 and 0.048. Real but small. With 123,000 records, p alone would mislead.</a:t>
            </a:r>
          </a:p>
          <a:p>
            <a:r>
              <a:rPr sz="1300" b="0" dirty="0"/>
              <a:t>→ </a:t>
            </a:r>
            <a:r>
              <a:rPr sz="1300" b="1" dirty="0"/>
              <a:t>What is CI?</a:t>
            </a:r>
            <a:r>
              <a:rPr sz="1300" b="0" dirty="0"/>
              <a:t>  The plausible range for the true value. For an odds ratio, if the range excludes 1.00, the effect is meaningful.</a:t>
            </a:r>
          </a:p>
          <a:p>
            <a:r>
              <a:rPr sz="1300" b="0" dirty="0"/>
              <a:t>→ </a:t>
            </a:r>
            <a:r>
              <a:rPr sz="1300" b="1" dirty="0"/>
              <a:t>What is an odds ratio?</a:t>
            </a:r>
            <a:r>
              <a:rPr sz="1300" b="0" dirty="0"/>
              <a:t>  1.00 is no difference. 1.14 is fourteen percent higher odds.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rtl="0">
              <a:buNone/>
            </a:pPr>
            <a:r>
              <a:rPr sz="1300" b="1" dirty="0"/>
              <a:t>RESEARCH QUESTIONS 2 OF 2</a:t>
            </a:r>
            <a:r>
              <a:rPr sz="1300" b="0" dirty="0"/>
              <a:t>  |  45 sec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SAY</a:t>
            </a:r>
          </a:p>
          <a:p>
            <a:r>
              <a:rPr sz="1300" b="0" dirty="0"/>
              <a:t>• The first two questions established the association is real. These next two </a:t>
            </a:r>
            <a:r>
              <a:rPr sz="1300" b="1" dirty="0"/>
              <a:t>make it usable</a:t>
            </a:r>
            <a:r>
              <a:rPr sz="1300" b="0" dirty="0"/>
              <a:t>.</a:t>
            </a:r>
          </a:p>
          <a:p>
            <a:r>
              <a:rPr sz="1300" b="0" dirty="0"/>
              <a:t>• The </a:t>
            </a:r>
            <a:r>
              <a:rPr sz="1300" b="1" dirty="0"/>
              <a:t>third</a:t>
            </a:r>
            <a:r>
              <a:rPr sz="1300" b="0" dirty="0"/>
              <a:t> asks </a:t>
            </a:r>
            <a:r>
              <a:rPr sz="1300" b="1" dirty="0"/>
              <a:t>whether the type of action matters</a:t>
            </a:r>
            <a:r>
              <a:rPr sz="1300" b="0" dirty="0"/>
              <a:t>. I compared five action types against the same no-action group.</a:t>
            </a:r>
          </a:p>
          <a:p>
            <a:r>
              <a:rPr sz="1300" b="0" dirty="0"/>
              <a:t>• Run five tests and you get five chances to be fooled by randomness, so </a:t>
            </a:r>
            <a:r>
              <a:rPr sz="1300" b="1" dirty="0"/>
              <a:t>Holm's correction</a:t>
            </a:r>
            <a:r>
              <a:rPr sz="1300" b="0" dirty="0"/>
              <a:t> raises the bar. Bonferroni does the same job but is stricter than it needs to be, so it can miss real effects.</a:t>
            </a:r>
          </a:p>
          <a:p>
            <a:r>
              <a:rPr sz="1300" b="0" dirty="0"/>
              <a:t>• </a:t>
            </a:r>
            <a:r>
              <a:rPr lang="en-US" sz="1300" b="0" dirty="0"/>
              <a:t>We found </a:t>
            </a:r>
            <a:r>
              <a:rPr sz="1300" b="0" dirty="0"/>
              <a:t>Two survived. </a:t>
            </a:r>
            <a:r>
              <a:rPr sz="1300" b="1" dirty="0"/>
              <a:t>Material modification, 39</a:t>
            </a:r>
            <a:r>
              <a:rPr lang="en-US" sz="1300" b="1" dirty="0"/>
              <a:t>%</a:t>
            </a:r>
            <a:r>
              <a:rPr sz="1300" b="0" dirty="0"/>
              <a:t>, nearly eight points above no action. </a:t>
            </a:r>
            <a:r>
              <a:rPr sz="1300" b="1" dirty="0"/>
              <a:t>Operating practice and training, 35.5</a:t>
            </a:r>
            <a:r>
              <a:rPr lang="en-US" sz="1300" b="1" dirty="0"/>
              <a:t>%</a:t>
            </a:r>
            <a:r>
              <a:rPr sz="1300" b="0" dirty="0"/>
              <a:t>, four points above. The other three did not hold up.</a:t>
            </a:r>
            <a:endParaRPr lang="en-US" sz="1300" b="0" dirty="0"/>
          </a:p>
          <a:p>
            <a:endParaRPr sz="1300" b="0" dirty="0"/>
          </a:p>
          <a:p>
            <a:r>
              <a:rPr sz="1300" b="0" dirty="0"/>
              <a:t>• The </a:t>
            </a:r>
            <a:r>
              <a:rPr sz="1300" b="1" dirty="0"/>
              <a:t>fourth</a:t>
            </a:r>
            <a:r>
              <a:rPr sz="1300" b="0" dirty="0"/>
              <a:t> question moves from explaining to </a:t>
            </a:r>
            <a:r>
              <a:rPr sz="1300" b="1" dirty="0"/>
              <a:t>predicting</a:t>
            </a:r>
            <a:r>
              <a:rPr sz="1300" b="0" dirty="0"/>
              <a:t>. </a:t>
            </a:r>
            <a:r>
              <a:rPr sz="1300" b="1" dirty="0"/>
              <a:t>Can a model flag records likely to fail, better than chance and better than a simple baseline</a:t>
            </a:r>
            <a:r>
              <a:rPr sz="1300" b="0" dirty="0"/>
              <a:t>?</a:t>
            </a:r>
          </a:p>
          <a:p>
            <a:r>
              <a:rPr sz="1300" b="0" dirty="0"/>
              <a:t>•</a:t>
            </a:r>
            <a:r>
              <a:rPr lang="en-US" sz="1300" b="0" dirty="0"/>
              <a:t>We used</a:t>
            </a:r>
            <a:r>
              <a:rPr sz="1300" b="0" dirty="0"/>
              <a:t> </a:t>
            </a:r>
            <a:r>
              <a:rPr sz="1300" b="1" dirty="0"/>
              <a:t>Elastic-net logistic regression</a:t>
            </a:r>
            <a:r>
              <a:rPr sz="1300" b="0" dirty="0"/>
              <a:t>, scored once on a sealed 2023 to 2024 holdout.</a:t>
            </a:r>
          </a:p>
          <a:p>
            <a:r>
              <a:rPr sz="1300" b="0" dirty="0"/>
              <a:t>• Answer: </a:t>
            </a:r>
            <a:r>
              <a:rPr sz="1300" b="1" dirty="0"/>
              <a:t>AUC 0.523</a:t>
            </a:r>
            <a:r>
              <a:rPr sz="1300" b="0" dirty="0"/>
              <a:t> against a baseline of </a:t>
            </a:r>
            <a:r>
              <a:rPr sz="1300" b="1" dirty="0"/>
              <a:t>0.502</a:t>
            </a:r>
            <a:r>
              <a:rPr sz="1300" b="0" dirty="0"/>
              <a:t>. It beats both, and the interval clears chance. But it is thin.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REMEMBER</a:t>
            </a:r>
          </a:p>
          <a:p>
            <a:r>
              <a:rPr sz="1300" b="0" dirty="0"/>
              <a:t>• Question two is about </a:t>
            </a:r>
            <a:r>
              <a:rPr sz="1300" b="1" dirty="0"/>
              <a:t>understanding</a:t>
            </a:r>
            <a:r>
              <a:rPr sz="1300" b="0" dirty="0"/>
              <a:t>. Question four is about </a:t>
            </a:r>
            <a:r>
              <a:rPr sz="1300" b="1" dirty="0" err="1"/>
              <a:t>prioritising</a:t>
            </a:r>
            <a:r>
              <a:rPr sz="1300" b="0" dirty="0"/>
              <a:t>. A factor can be a real driver and still be a weak predictor. Do not let those blur.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LIKELY QUESTIONS</a:t>
            </a:r>
          </a:p>
          <a:p>
            <a:r>
              <a:rPr sz="1300" b="0" dirty="0"/>
              <a:t>→ </a:t>
            </a:r>
            <a:r>
              <a:rPr sz="1300" b="1" dirty="0"/>
              <a:t>What is the Holm correction?</a:t>
            </a:r>
            <a:r>
              <a:rPr sz="1300" b="0" dirty="0"/>
              <a:t>  It ranks the five p-values and tightens the bar for each, so the chance of any false positive across all five stays at five percent.</a:t>
            </a:r>
          </a:p>
          <a:p>
            <a:r>
              <a:rPr sz="1300" b="0" dirty="0"/>
              <a:t>→ </a:t>
            </a:r>
            <a:r>
              <a:rPr sz="1300" b="1" dirty="0"/>
              <a:t>What is AUC?</a:t>
            </a:r>
            <a:r>
              <a:rPr sz="1300" b="0" dirty="0"/>
              <a:t>  The chance the model ranks a genuine at-risk record above a safe one. 0.50 is a coin flip. Mine is 0.523.</a:t>
            </a:r>
          </a:p>
          <a:p>
            <a:r>
              <a:rPr sz="1300" b="0" dirty="0"/>
              <a:t>→ </a:t>
            </a:r>
            <a:r>
              <a:rPr sz="1300" b="1" dirty="0"/>
              <a:t>What is a sealed holdout?</a:t>
            </a:r>
            <a:r>
              <a:rPr sz="1300" b="0" dirty="0"/>
              <a:t>  Data set aside before modelling and scored once, at the end.</a:t>
            </a:r>
          </a:p>
          <a:p>
            <a:r>
              <a:rPr sz="1300" b="0" dirty="0"/>
              <a:t>→ </a:t>
            </a:r>
            <a:r>
              <a:rPr sz="1300" b="1" dirty="0"/>
              <a:t>What is the baseline for?</a:t>
            </a:r>
            <a:r>
              <a:rPr sz="1300" b="0" dirty="0"/>
              <a:t>  A deliberately plain two-variable model, so the complex one has to earn its place.</a:t>
            </a:r>
          </a:p>
          <a:p>
            <a:r>
              <a:rPr sz="1300" b="0" dirty="0"/>
              <a:t>→ </a:t>
            </a:r>
            <a:r>
              <a:rPr sz="1300" b="1" dirty="0"/>
              <a:t>Why is the signal so weak?</a:t>
            </a:r>
            <a:r>
              <a:rPr sz="1300" b="0" dirty="0"/>
              <a:t>  That is a finding, not a failure. TRI records that a box was ticked, not what was spent or when. The ceiling is in the data, and knowing it tells a regulator that checkbox filings cannot support predictive enforcement.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453ca69b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453ca69b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sz="1500" b="1" dirty="0"/>
              <a:t>DATA AND EDA</a:t>
            </a:r>
            <a:r>
              <a:rPr sz="1500" b="0" dirty="0"/>
              <a:t>  |  50 sec  |  </a:t>
            </a:r>
            <a:r>
              <a:rPr sz="1500" b="1" dirty="0"/>
              <a:t>EXPECT QUESTIONS HERE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SAY</a:t>
            </a:r>
          </a:p>
          <a:p>
            <a:r>
              <a:rPr sz="1300" b="0" dirty="0"/>
              <a:t>• The data behind all of that. EPA Form R filings, </a:t>
            </a:r>
            <a:r>
              <a:rPr sz="1300" b="1" dirty="0"/>
              <a:t>2020 to 2024, US manufacturing only</a:t>
            </a:r>
            <a:r>
              <a:rPr sz="1300" b="0" dirty="0"/>
              <a:t>.</a:t>
            </a:r>
          </a:p>
          <a:p>
            <a:r>
              <a:rPr sz="1300" b="0" dirty="0"/>
              <a:t>• </a:t>
            </a:r>
            <a:r>
              <a:rPr lang="en-US" sz="1300" b="0" dirty="0"/>
              <a:t>Around</a:t>
            </a:r>
            <a:r>
              <a:rPr sz="1300" b="0" dirty="0"/>
              <a:t> </a:t>
            </a:r>
            <a:r>
              <a:rPr sz="1300" b="1" dirty="0"/>
              <a:t>12</a:t>
            </a:r>
            <a:r>
              <a:rPr lang="en-US" sz="1300" b="1" dirty="0"/>
              <a:t>5</a:t>
            </a:r>
            <a:r>
              <a:rPr sz="1300" b="1" dirty="0"/>
              <a:t>,</a:t>
            </a:r>
            <a:r>
              <a:rPr lang="en-US" sz="1300" b="1" dirty="0"/>
              <a:t>000</a:t>
            </a:r>
            <a:r>
              <a:rPr sz="1300" b="1" dirty="0"/>
              <a:t> records</a:t>
            </a:r>
            <a:r>
              <a:rPr sz="1300" b="0" dirty="0"/>
              <a:t> to </a:t>
            </a:r>
            <a:r>
              <a:rPr sz="1300" b="0" dirty="0" err="1"/>
              <a:t>analyse</a:t>
            </a:r>
            <a:r>
              <a:rPr sz="1300" b="0" dirty="0"/>
              <a:t>, </a:t>
            </a:r>
            <a:r>
              <a:rPr sz="1300" b="1" dirty="0"/>
              <a:t>40,000 sealed</a:t>
            </a:r>
            <a:r>
              <a:rPr sz="1300" b="0" dirty="0"/>
              <a:t> for the final test, across roughly </a:t>
            </a:r>
            <a:r>
              <a:rPr sz="1300" b="1" dirty="0"/>
              <a:t>1</a:t>
            </a:r>
            <a:r>
              <a:rPr lang="en-US" sz="1300" b="1" dirty="0"/>
              <a:t>5</a:t>
            </a:r>
            <a:r>
              <a:rPr sz="1300" b="1" dirty="0"/>
              <a:t>,</a:t>
            </a:r>
            <a:r>
              <a:rPr lang="en-US" sz="1300" b="1" dirty="0"/>
              <a:t>000</a:t>
            </a:r>
            <a:r>
              <a:rPr sz="1300" b="1" dirty="0"/>
              <a:t> facilities</a:t>
            </a:r>
            <a:r>
              <a:rPr sz="1300" b="0" dirty="0"/>
              <a:t>.</a:t>
            </a:r>
          </a:p>
          <a:p>
            <a:r>
              <a:rPr sz="1300" b="0" dirty="0"/>
              <a:t>• Two numbers set up everything that follows.</a:t>
            </a:r>
          </a:p>
          <a:p>
            <a:pPr lvl="1"/>
            <a:r>
              <a:rPr sz="1300" b="0" dirty="0"/>
              <a:t>First, about </a:t>
            </a:r>
            <a:r>
              <a:rPr lang="en-IN" sz="1300" b="1" dirty="0"/>
              <a:t>32%</a:t>
            </a:r>
            <a:r>
              <a:rPr sz="1300" b="0" dirty="0"/>
              <a:t> of records achieved a meaningful reduction. Roughly one in three. A healthy split, so no resampling was needed.</a:t>
            </a:r>
          </a:p>
          <a:p>
            <a:pPr lvl="1"/>
            <a:r>
              <a:rPr sz="1300" b="0" dirty="0"/>
              <a:t>Second, only </a:t>
            </a:r>
            <a:r>
              <a:rPr lang="en-US" sz="1300" b="1" dirty="0"/>
              <a:t>5%</a:t>
            </a:r>
            <a:r>
              <a:rPr sz="1300" b="0" dirty="0"/>
              <a:t> reported any prevention action at all. </a:t>
            </a:r>
            <a:r>
              <a:rPr sz="1300" b="1" dirty="0"/>
              <a:t>That is the constraint of this whole project.</a:t>
            </a:r>
            <a:r>
              <a:rPr sz="1300" b="0" dirty="0"/>
              <a:t> My main predictor appears in fewer than </a:t>
            </a:r>
            <a:r>
              <a:rPr lang="en-US" sz="1300" b="0" dirty="0"/>
              <a:t>1</a:t>
            </a:r>
            <a:r>
              <a:rPr sz="1300" b="0" dirty="0"/>
              <a:t> record in </a:t>
            </a:r>
            <a:r>
              <a:rPr lang="en-US" sz="1300" b="0" dirty="0"/>
              <a:t>20</a:t>
            </a:r>
            <a:r>
              <a:rPr sz="1300" b="0" dirty="0"/>
              <a:t>.</a:t>
            </a:r>
          </a:p>
          <a:p>
            <a:r>
              <a:rPr sz="1300" b="0" dirty="0"/>
              <a:t>• And those facilities </a:t>
            </a:r>
            <a:r>
              <a:rPr sz="1300" b="1" dirty="0"/>
              <a:t>chose</a:t>
            </a:r>
            <a:r>
              <a:rPr sz="1300" b="0" dirty="0"/>
              <a:t> to report. Nobody assigned them. So they are probably the better-run sites already. That is why everything from here is </a:t>
            </a:r>
            <a:r>
              <a:rPr sz="1300" b="1" dirty="0"/>
              <a:t>adjusted</a:t>
            </a:r>
            <a:r>
              <a:rPr sz="1300" b="0" dirty="0"/>
              <a:t>, not a simple two-group comparison.</a:t>
            </a:r>
          </a:p>
          <a:p>
            <a:r>
              <a:rPr sz="1300" b="0" dirty="0"/>
              <a:t>• You can already see the drift on the right. Rates climb from 27.5 to 35.9 percent. Real movement, which is why year became a control.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REMEMBER</a:t>
            </a:r>
          </a:p>
          <a:p>
            <a:r>
              <a:rPr sz="1300" b="0" dirty="0"/>
              <a:t>• The outcome is learnable. The exposure is rare. That gap is why the signal ends up </a:t>
            </a:r>
            <a:r>
              <a:rPr sz="1300" b="1" dirty="0"/>
              <a:t>real but modest</a:t>
            </a:r>
            <a:r>
              <a:rPr sz="1300" b="0" dirty="0"/>
              <a:t>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LIKELY QUESTIONS</a:t>
            </a:r>
          </a:p>
          <a:p>
            <a:r>
              <a:rPr sz="1300" b="0" dirty="0"/>
              <a:t>→ </a:t>
            </a:r>
            <a:r>
              <a:rPr sz="1300" b="1" dirty="0"/>
              <a:t>Biggest EDA surprise?</a:t>
            </a:r>
            <a:r>
              <a:rPr sz="1300" b="0" dirty="0"/>
              <a:t>  The production ratio is </a:t>
            </a:r>
            <a:r>
              <a:rPr sz="1300" b="1" dirty="0"/>
              <a:t>U-shaped</a:t>
            </a:r>
            <a:r>
              <a:rPr sz="1300" b="0" dirty="0"/>
              <a:t>, not linear. Reductions bottom out near a ratio of 1.0 at about 29.7 percent and rise on both sides to about 36.2. That changed the model spec.</a:t>
            </a:r>
          </a:p>
          <a:p>
            <a:r>
              <a:rPr sz="1300" b="0" dirty="0"/>
              <a:t>→ </a:t>
            </a:r>
            <a:r>
              <a:rPr sz="1300" b="1" dirty="0"/>
              <a:t>Missing data?</a:t>
            </a:r>
            <a:r>
              <a:rPr sz="1300" b="0" dirty="0"/>
              <a:t>  The production ratio was the main gap. Median imputed </a:t>
            </a:r>
            <a:r>
              <a:rPr sz="1300" b="1" dirty="0"/>
              <a:t>inside each training fold</a:t>
            </a:r>
            <a:r>
              <a:rPr sz="1300" b="0" dirty="0"/>
              <a:t>, with a flag kept so the model can learn whether missingness itself carries information.</a:t>
            </a:r>
          </a:p>
          <a:p>
            <a:r>
              <a:rPr sz="1300" b="0" dirty="0"/>
              <a:t>→ </a:t>
            </a:r>
            <a:r>
              <a:rPr sz="1300" b="1" dirty="0"/>
              <a:t>Outliers?</a:t>
            </a:r>
            <a:r>
              <a:rPr sz="1300" b="0" dirty="0"/>
              <a:t>  Release volume has skewness around 34.6, so I log-transform it. The production ratio is capped at the 99th percentile, about 3.15.</a:t>
            </a:r>
          </a:p>
          <a:p>
            <a:r>
              <a:rPr sz="1300" b="0" dirty="0"/>
              <a:t>→ </a:t>
            </a:r>
            <a:r>
              <a:rPr sz="1300" b="1" dirty="0"/>
              <a:t>Are the two groups comparable?</a:t>
            </a:r>
            <a:r>
              <a:rPr sz="1300" b="0" dirty="0"/>
              <a:t>  No, and that is the point. </a:t>
            </a:r>
            <a:r>
              <a:rPr sz="1300" b="1" dirty="0"/>
              <a:t>Seven of nineteen covariates</a:t>
            </a:r>
            <a:r>
              <a:rPr sz="1300" b="0" dirty="0"/>
              <a:t> are imbalanced beyond 0.10. The raw 3.6-point gap is partly compositional, which forces the adjusted model.</a:t>
            </a:r>
          </a:p>
          <a:p>
            <a:r>
              <a:rPr sz="1300" b="0" dirty="0"/>
              <a:t>→ </a:t>
            </a:r>
            <a:r>
              <a:rPr sz="1300" b="1" dirty="0"/>
              <a:t>Repeated facilities?</a:t>
            </a:r>
            <a:r>
              <a:rPr sz="1300" b="0" dirty="0"/>
              <a:t>  8.2 records per facility, and 92.8 percent come from multi-record facilities. Independence is violated, hence clustering.</a:t>
            </a:r>
          </a:p>
          <a:p>
            <a:r>
              <a:rPr sz="1300" b="0" dirty="0"/>
              <a:t>→ </a:t>
            </a:r>
            <a:r>
              <a:rPr sz="1300" b="1" dirty="0"/>
              <a:t>Units?</a:t>
            </a:r>
            <a:r>
              <a:rPr sz="1300" b="0" dirty="0"/>
              <a:t>  Dioxins are filed in grams, everything else in pounds, so I </a:t>
            </a:r>
            <a:r>
              <a:rPr sz="1300" b="0" dirty="0" err="1"/>
              <a:t>analysed</a:t>
            </a:r>
            <a:r>
              <a:rPr sz="1300" b="0" dirty="0"/>
              <a:t> them separately. Their rate is 24.8 percent against 31.6 for the pound frame.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b453ca69b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b453ca69b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300" b="1" dirty="0"/>
              <a:t>ARCHITECTURE AND WORKFLOW</a:t>
            </a:r>
            <a:r>
              <a:rPr sz="1300" b="0" dirty="0"/>
              <a:t>  |  25 sec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SAY</a:t>
            </a:r>
          </a:p>
          <a:p>
            <a:r>
              <a:rPr sz="1300" b="0" dirty="0"/>
              <a:t>• </a:t>
            </a:r>
            <a:r>
              <a:rPr lang="en-US" sz="1300" b="0" dirty="0"/>
              <a:t>Here is a quick </a:t>
            </a:r>
            <a:r>
              <a:rPr sz="1300" b="0" dirty="0"/>
              <a:t>pipeline</a:t>
            </a:r>
            <a:r>
              <a:rPr lang="en-US" sz="1300" b="0" dirty="0"/>
              <a:t> flow</a:t>
            </a:r>
            <a:endParaRPr sz="1300" b="0" dirty="0"/>
          </a:p>
          <a:p>
            <a:r>
              <a:rPr sz="1300" b="0" dirty="0"/>
              <a:t>• Raw EPA files come in. One form carries </a:t>
            </a:r>
            <a:r>
              <a:rPr sz="1300" b="1" dirty="0"/>
              <a:t>release quantities</a:t>
            </a:r>
            <a:r>
              <a:rPr sz="1300" b="0" dirty="0"/>
              <a:t>, another carries the </a:t>
            </a:r>
            <a:r>
              <a:rPr sz="1300" b="1" dirty="0"/>
              <a:t>prevention activities</a:t>
            </a:r>
            <a:r>
              <a:rPr sz="1300" b="0" dirty="0"/>
              <a:t>, so they are cleaned and joined into one row per facility, per chemical, per year.</a:t>
            </a:r>
          </a:p>
          <a:p>
            <a:r>
              <a:rPr sz="1300" b="0" dirty="0"/>
              <a:t>• Then I build the outcome by looking ahead one year and asking whether releases dropped by at least </a:t>
            </a:r>
            <a:r>
              <a:rPr lang="en-US" sz="1300" b="0" dirty="0"/>
              <a:t>10%</a:t>
            </a:r>
            <a:endParaRPr sz="1300" b="0" dirty="0"/>
          </a:p>
          <a:p>
            <a:r>
              <a:rPr sz="1300" b="0" dirty="0"/>
              <a:t>• From there it splits. The same dataset feeds the </a:t>
            </a:r>
            <a:r>
              <a:rPr sz="1300" b="1" dirty="0"/>
              <a:t>statistical tests</a:t>
            </a:r>
            <a:r>
              <a:rPr sz="1300" b="0" dirty="0"/>
              <a:t> and the </a:t>
            </a:r>
            <a:r>
              <a:rPr sz="1300" b="1" dirty="0"/>
              <a:t>prediction model</a:t>
            </a:r>
            <a:r>
              <a:rPr sz="1300" b="0" dirty="0"/>
              <a:t>. The model is scored once against the sealed holdout.</a:t>
            </a:r>
          </a:p>
          <a:p>
            <a:r>
              <a:rPr sz="1300" b="0" dirty="0"/>
              <a:t>• What comes out the far end is the deliverable: a </a:t>
            </a:r>
            <a:r>
              <a:rPr sz="1300" b="1" dirty="0"/>
              <a:t>ranked review list</a:t>
            </a:r>
            <a:r>
              <a:rPr sz="1300" b="0" dirty="0"/>
              <a:t>.</a:t>
            </a:r>
          </a:p>
          <a:p>
            <a:r>
              <a:rPr sz="1300" b="0" dirty="0"/>
              <a:t>• I want to flag </a:t>
            </a:r>
            <a:r>
              <a:rPr lang="en-US" sz="1300" b="0" dirty="0"/>
              <a:t>out that the </a:t>
            </a:r>
            <a:r>
              <a:rPr sz="1300" b="0" dirty="0"/>
              <a:t>holdout was locked at the start and opened </a:t>
            </a:r>
            <a:r>
              <a:rPr sz="1300" b="1" dirty="0"/>
              <a:t>exactly once</a:t>
            </a:r>
            <a:r>
              <a:rPr sz="1300" b="0" dirty="0"/>
              <a:t>, after every decision was already final.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REMEMBER</a:t>
            </a:r>
          </a:p>
          <a:p>
            <a:r>
              <a:rPr sz="1300" b="0" dirty="0"/>
              <a:t>• One look at the holdout. That is what stops me fooling myself with my own results.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LIKELY QUESTIONS</a:t>
            </a:r>
          </a:p>
          <a:p>
            <a:r>
              <a:rPr sz="1300" b="0" dirty="0"/>
              <a:t>→ </a:t>
            </a:r>
            <a:r>
              <a:rPr sz="1300" b="1" dirty="0"/>
              <a:t>Why does one look matter?</a:t>
            </a:r>
            <a:r>
              <a:rPr sz="1300" b="0" dirty="0"/>
              <a:t>  Check, tweak, check again, and you slowly fit the test set through your own choices. All tuning happened inside the development data, cross-validated by facility group.</a:t>
            </a:r>
          </a:p>
          <a:p>
            <a:r>
              <a:rPr sz="1300" b="0" dirty="0"/>
              <a:t>→ </a:t>
            </a:r>
            <a:r>
              <a:rPr sz="1300" b="1" dirty="0"/>
              <a:t>Why split by time instead of randomly?</a:t>
            </a:r>
            <a:r>
              <a:rPr sz="1300" b="0" dirty="0"/>
              <a:t>  Real use is forward-looking. A random split would leak 2024 information into a model meant to predict 2024.</a:t>
            </a:r>
          </a:p>
          <a:p>
            <a:r>
              <a:rPr sz="1300" b="0" dirty="0"/>
              <a:t>→ </a:t>
            </a:r>
            <a:r>
              <a:rPr sz="1300" b="1" dirty="0"/>
              <a:t>Is it reproducible?</a:t>
            </a:r>
            <a:r>
              <a:rPr sz="1300" b="0" dirty="0"/>
              <a:t>  Yes. Colab notebook, fixed random seeds, code on GitHub.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b453ca69b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b453ca69b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500" b="1" dirty="0"/>
              <a:t>MODEL BUILDING 1 OF 2</a:t>
            </a:r>
            <a:r>
              <a:rPr sz="1500" b="0" dirty="0"/>
              <a:t>  |  55 sec  |  </a:t>
            </a:r>
            <a:r>
              <a:rPr sz="1500" b="1" dirty="0"/>
              <a:t>FEATURES AND MODEL CHOICE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SAY</a:t>
            </a:r>
          </a:p>
          <a:p>
            <a:r>
              <a:rPr sz="1300" b="0" dirty="0"/>
              <a:t>• Two paths, because there are two questions and they need different tools.</a:t>
            </a:r>
          </a:p>
          <a:p>
            <a:r>
              <a:rPr sz="1300" b="0" dirty="0"/>
              <a:t>• The </a:t>
            </a:r>
            <a:r>
              <a:rPr sz="1300" b="1" dirty="0"/>
              <a:t>top path explains</a:t>
            </a:r>
            <a:r>
              <a:rPr sz="1300" b="0" dirty="0"/>
              <a:t>. Logistic regression with facility-clustered errors, giving an odds ratio for each factor, plus diagnostics.</a:t>
            </a:r>
          </a:p>
          <a:p>
            <a:r>
              <a:rPr sz="1300" b="0" dirty="0"/>
              <a:t>• The </a:t>
            </a:r>
            <a:r>
              <a:rPr sz="1300" b="1" dirty="0"/>
              <a:t>bottom path predicts</a:t>
            </a:r>
            <a:r>
              <a:rPr sz="1300" b="0" dirty="0"/>
              <a:t>. It starts with a deliberately plain baseline, just the action flag and release volume, so the more complex model has to earn its place.</a:t>
            </a:r>
          </a:p>
          <a:p>
            <a:r>
              <a:rPr sz="1300" b="0" dirty="0"/>
              <a:t>• Then elastic-net with fifteen predictors, tuned by leaving one year-transition out at a time, refit on everything, and scored once.</a:t>
            </a:r>
            <a:endParaRPr lang="en-US" sz="1300" b="0" dirty="0"/>
          </a:p>
          <a:p>
            <a:endParaRPr sz="1300" b="0" dirty="0"/>
          </a:p>
          <a:p>
            <a:r>
              <a:rPr sz="1300" b="0" dirty="0"/>
              <a:t> On features, these are </a:t>
            </a:r>
            <a:r>
              <a:rPr sz="1300" b="1" dirty="0"/>
              <a:t>not raw columns</a:t>
            </a:r>
            <a:r>
              <a:rPr sz="1300" b="0" dirty="0"/>
              <a:t>. Four decisions worth naming.</a:t>
            </a:r>
          </a:p>
          <a:p>
            <a:pPr lvl="1"/>
            <a:r>
              <a:rPr sz="1300" b="1" dirty="0"/>
              <a:t>One.</a:t>
            </a:r>
            <a:r>
              <a:rPr sz="1300" b="0" dirty="0"/>
              <a:t> </a:t>
            </a:r>
            <a:r>
              <a:rPr lang="en-US" sz="1300" b="0" dirty="0"/>
              <a:t>Release sizes are wildly uneven, so I log them. That also accounts for big releasers having more room to fall.</a:t>
            </a:r>
          </a:p>
          <a:p>
            <a:pPr lvl="1"/>
            <a:r>
              <a:rPr sz="1300" b="1" dirty="0"/>
              <a:t>Two.</a:t>
            </a:r>
            <a:r>
              <a:rPr sz="1300" b="0" dirty="0"/>
              <a:t> The </a:t>
            </a:r>
            <a:r>
              <a:rPr lang="en-US" sz="1300" b="0" dirty="0"/>
              <a:t>Production ratio isn't a straight line</a:t>
            </a:r>
            <a:r>
              <a:rPr sz="1300" b="0" dirty="0"/>
              <a:t>, </a:t>
            </a:r>
            <a:r>
              <a:rPr lang="en-IN" sz="1400" dirty="0"/>
              <a:t>so I added a squared term. I subtract the average first, otherwise the two terms interfere with each other.</a:t>
            </a:r>
            <a:r>
              <a:rPr sz="1300" b="0" dirty="0"/>
              <a:t>.</a:t>
            </a:r>
          </a:p>
          <a:p>
            <a:pPr lvl="1"/>
            <a:r>
              <a:rPr sz="1300" b="1" dirty="0"/>
              <a:t>Three.</a:t>
            </a:r>
            <a:r>
              <a:rPr sz="1300" b="0" dirty="0"/>
              <a:t> </a:t>
            </a:r>
            <a:r>
              <a:rPr lang="en-US" sz="1300" b="0" dirty="0"/>
              <a:t>Missing production ratios get the median, and I flag them, because not reporting might itself mean something</a:t>
            </a:r>
          </a:p>
          <a:p>
            <a:pPr lvl="1"/>
            <a:r>
              <a:rPr sz="1300" b="1" dirty="0"/>
              <a:t>Four.</a:t>
            </a:r>
            <a:r>
              <a:rPr sz="1300" b="0" dirty="0"/>
              <a:t> The five action types stay </a:t>
            </a:r>
            <a:r>
              <a:rPr sz="1300" b="1" dirty="0"/>
              <a:t>separate</a:t>
            </a:r>
            <a:r>
              <a:rPr sz="1300" b="0" dirty="0"/>
              <a:t>, because they behave differently and pooling would hide that.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REMEMBER</a:t>
            </a:r>
          </a:p>
          <a:p>
            <a:r>
              <a:rPr sz="1300" b="0" dirty="0"/>
              <a:t>• Two paths, two jobs. One explains a relationship, the other ranks records. Neither claims cause and effect.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LIKELY QUESTIONS</a:t>
            </a:r>
          </a:p>
          <a:p>
            <a:r>
              <a:rPr sz="1300" b="0" dirty="0"/>
              <a:t>→ </a:t>
            </a:r>
            <a:r>
              <a:rPr sz="1300" b="1" dirty="0"/>
              <a:t>Did you try the plain vanilla version first?</a:t>
            </a:r>
            <a:r>
              <a:rPr sz="1300" b="0" dirty="0"/>
              <a:t>  Yes. The baseline is </a:t>
            </a:r>
            <a:r>
              <a:rPr sz="1300" b="0" dirty="0" err="1"/>
              <a:t>unregularised</a:t>
            </a:r>
            <a:r>
              <a:rPr sz="1300" b="0" dirty="0"/>
              <a:t> logistic regression with two variables, and I also fitted the full </a:t>
            </a:r>
            <a:r>
              <a:rPr sz="1300" b="0" dirty="0" err="1"/>
              <a:t>unpenalised</a:t>
            </a:r>
            <a:r>
              <a:rPr sz="1300" b="0" dirty="0"/>
              <a:t> model. Elastic-net is the variant, and it won on cross-validated AUC, </a:t>
            </a:r>
            <a:r>
              <a:rPr sz="1300" b="1" dirty="0"/>
              <a:t>0.530 against 0.522</a:t>
            </a:r>
            <a:r>
              <a:rPr sz="1300" b="0" dirty="0"/>
              <a:t>.</a:t>
            </a:r>
          </a:p>
          <a:p>
            <a:r>
              <a:rPr sz="1300" b="0" dirty="0"/>
              <a:t>→ </a:t>
            </a:r>
            <a:r>
              <a:rPr sz="1300" b="1" dirty="0"/>
              <a:t>Why not random forest or gradient boosting?</a:t>
            </a:r>
            <a:r>
              <a:rPr sz="1300" b="0" dirty="0"/>
              <a:t>  The explanatory question needs one coefficient and its interval, which a tree ensemble does not give. And with signal this weak, a flexible learner mostly fits noise. Interpretability is a hard requirement, because a facility has to be told why it was flagged.</a:t>
            </a:r>
          </a:p>
          <a:p>
            <a:r>
              <a:rPr sz="1300" b="0" dirty="0"/>
              <a:t>→ </a:t>
            </a:r>
            <a:r>
              <a:rPr sz="1300" b="1" dirty="0"/>
              <a:t>Why elastic-net rather than lasso or ridge alone?</a:t>
            </a:r>
            <a:r>
              <a:rPr sz="1300" b="0" dirty="0"/>
              <a:t>  Fifteen subsectors and five action types correlate. Lasso arbitrarily drops one of a correlated pair, ridge keeps everything. Elastic-net does both, tuned. It settled at </a:t>
            </a:r>
            <a:r>
              <a:rPr sz="1300" b="1" dirty="0"/>
              <a:t>L1 ratio 0.1, C 0.01</a:t>
            </a:r>
            <a:r>
              <a:rPr sz="1300" b="0" dirty="0"/>
              <a:t>, heavy shrinkage, which is what weak signal predicts.</a:t>
            </a:r>
          </a:p>
          <a:p>
            <a:r>
              <a:rPr sz="1300" b="0" dirty="0"/>
              <a:t>→ </a:t>
            </a:r>
            <a:r>
              <a:rPr sz="1300" b="1" dirty="0"/>
              <a:t>Any resampling or SMOTE?</a:t>
            </a:r>
            <a:r>
              <a:rPr sz="1300" b="0" dirty="0"/>
              <a:t>  Not needed. The outcome is 31 to 69, not severely imbalanced.</a:t>
            </a:r>
          </a:p>
          <a:p>
            <a:r>
              <a:rPr sz="1300" b="0" dirty="0"/>
              <a:t>→ </a:t>
            </a:r>
            <a:r>
              <a:rPr sz="1300" b="1" dirty="0"/>
              <a:t>Why is the year variable in one model and not the other?</a:t>
            </a:r>
            <a:r>
              <a:rPr sz="1300" b="0" dirty="0"/>
              <a:t>  The holdout contains an action year the model never saw in training, and you cannot score a category that did not exist at training time. It stays in the explanatory model, where the year trend is a genuine confounder.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 b="1" dirty="0"/>
              <a:t>MODEL BUILDING 2 OF 2</a:t>
            </a:r>
            <a:r>
              <a:rPr sz="1300" b="0" dirty="0"/>
              <a:t>  |  35 sec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SAY</a:t>
            </a:r>
          </a:p>
          <a:p>
            <a:r>
              <a:rPr sz="1300" b="0" dirty="0"/>
              <a:t>• The same story in one table. Every choice defends against a </a:t>
            </a:r>
            <a:r>
              <a:rPr sz="1300" b="1" dirty="0"/>
              <a:t>specific risk in this data</a:t>
            </a:r>
            <a:r>
              <a:rPr sz="1300" b="0" dirty="0"/>
              <a:t>.</a:t>
            </a:r>
          </a:p>
          <a:p>
            <a:r>
              <a:rPr sz="1300" b="0" dirty="0"/>
              <a:t>• </a:t>
            </a:r>
            <a:r>
              <a:rPr sz="1300" b="1" dirty="0"/>
              <a:t>Clustered errors</a:t>
            </a:r>
            <a:r>
              <a:rPr sz="1300" b="0" dirty="0"/>
              <a:t>, because facilities repeat. </a:t>
            </a:r>
            <a:r>
              <a:rPr sz="1300" b="1" dirty="0"/>
              <a:t>Holm</a:t>
            </a:r>
            <a:r>
              <a:rPr sz="1300" b="0" dirty="0"/>
              <a:t>, because five tests share one reference group.</a:t>
            </a:r>
          </a:p>
          <a:p>
            <a:r>
              <a:rPr sz="1300" b="0" dirty="0"/>
              <a:t>• </a:t>
            </a:r>
            <a:r>
              <a:rPr sz="1300" b="1" dirty="0"/>
              <a:t>Elastic-net</a:t>
            </a:r>
            <a:r>
              <a:rPr sz="1300" b="0" dirty="0"/>
              <a:t>, because predictors correlate and the model could overfit. </a:t>
            </a:r>
            <a:r>
              <a:rPr sz="1300" b="1" dirty="0"/>
              <a:t>Out-of-time holdout</a:t>
            </a:r>
            <a:r>
              <a:rPr sz="1300" b="0" dirty="0"/>
              <a:t>, because real use is train on the past, score the future.</a:t>
            </a:r>
          </a:p>
          <a:p>
            <a:r>
              <a:rPr sz="1300" b="0" dirty="0"/>
              <a:t>• And the diagnostics line confirms it held. Max </a:t>
            </a:r>
            <a:r>
              <a:rPr sz="1300" b="1" dirty="0"/>
              <a:t>VIF about 2</a:t>
            </a:r>
            <a:r>
              <a:rPr sz="1300" b="0" dirty="0"/>
              <a:t>, so no collinearity trouble. </a:t>
            </a:r>
            <a:r>
              <a:rPr sz="1300" b="1" dirty="0"/>
              <a:t>Condition number 81</a:t>
            </a:r>
            <a:r>
              <a:rPr sz="1300" b="0" dirty="0"/>
              <a:t>, stable. And the information criterion preferred the curved production term over the straight one.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REMEMBER</a:t>
            </a:r>
          </a:p>
          <a:p>
            <a:r>
              <a:rPr sz="1300" b="0" dirty="0"/>
              <a:t>• Every row is a </a:t>
            </a:r>
            <a:r>
              <a:rPr sz="1300" b="0" dirty="0" err="1"/>
              <a:t>defence</a:t>
            </a:r>
            <a:r>
              <a:rPr sz="1300" b="0" dirty="0"/>
              <a:t> against a real failure mode in this dataset.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LIKELY QUESTIONS</a:t>
            </a:r>
          </a:p>
          <a:p>
            <a:r>
              <a:rPr sz="1300" b="0" dirty="0"/>
              <a:t>→ </a:t>
            </a:r>
            <a:r>
              <a:rPr sz="1300" b="1" dirty="0"/>
              <a:t>What is VIF?</a:t>
            </a:r>
            <a:r>
              <a:rPr sz="1300" b="0" dirty="0"/>
              <a:t>  Variance inflation factor. It flags predictors that overlap so much they distort each other. Above five is a concern. Mine top out at two.</a:t>
            </a:r>
          </a:p>
          <a:p>
            <a:r>
              <a:rPr sz="1300" b="0" dirty="0"/>
              <a:t>→ </a:t>
            </a:r>
            <a:r>
              <a:rPr sz="1300" b="1" dirty="0"/>
              <a:t>What is AIC doing here?</a:t>
            </a:r>
            <a:r>
              <a:rPr sz="1300" b="0" dirty="0"/>
              <a:t>  Comparing two versions of the same model, straight versus curved production ratio. Lower is better. 150,795 against 150,817, so the curve wins, though the margin is modest.</a:t>
            </a:r>
          </a:p>
          <a:p>
            <a:r>
              <a:rPr sz="1300" b="0" dirty="0"/>
              <a:t>→ </a:t>
            </a:r>
            <a:r>
              <a:rPr sz="1300" b="1" dirty="0"/>
              <a:t>Any sensitivity checks?</a:t>
            </a:r>
            <a:r>
              <a:rPr sz="1300" b="0" dirty="0"/>
              <a:t>  Yes. Dropping the two pandemic-affected transitions gives an odds ratio of 1.12, interval 1.03 to 1.22. Same conclusion, so it is not a pandemic artefact.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b453ca69b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b453ca69b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500" b="1" dirty="0"/>
              <a:t>RESULTS 1 OF 2</a:t>
            </a:r>
            <a:r>
              <a:rPr sz="1500" b="0" dirty="0"/>
              <a:t>  |  45 sec  |  </a:t>
            </a:r>
            <a:r>
              <a:rPr sz="1500" b="1" dirty="0"/>
              <a:t>EXPECT ACCURACY QUESTIONS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SAY</a:t>
            </a:r>
          </a:p>
          <a:p>
            <a:r>
              <a:rPr sz="1300" b="0" dirty="0"/>
              <a:t>• </a:t>
            </a:r>
            <a:r>
              <a:rPr lang="en-US" sz="1300" b="0" dirty="0"/>
              <a:t>Here are the high level numbers from results.</a:t>
            </a:r>
            <a:endParaRPr sz="1300" b="0" dirty="0"/>
          </a:p>
          <a:p>
            <a:r>
              <a:rPr sz="1300" b="0" dirty="0"/>
              <a:t>• Reporting any action is associated with about </a:t>
            </a:r>
            <a:r>
              <a:rPr sz="1300" b="1" dirty="0"/>
              <a:t>14</a:t>
            </a:r>
            <a:r>
              <a:rPr lang="en-US" sz="1300" b="1" dirty="0"/>
              <a:t>% hig</a:t>
            </a:r>
            <a:r>
              <a:rPr sz="1300" b="1" dirty="0"/>
              <a:t>her odds</a:t>
            </a:r>
            <a:r>
              <a:rPr sz="1300" b="0" dirty="0"/>
              <a:t> of reduction the following year, adjusted. The interval runs </a:t>
            </a:r>
            <a:r>
              <a:rPr sz="1300" b="1" dirty="0"/>
              <a:t>1.06 to 1.23</a:t>
            </a:r>
            <a:r>
              <a:rPr sz="1300" b="0" dirty="0"/>
              <a:t>, so it clears </a:t>
            </a:r>
            <a:r>
              <a:rPr lang="en-US" sz="1300" b="0" dirty="0"/>
              <a:t>1</a:t>
            </a:r>
            <a:r>
              <a:rPr sz="1300" b="0" dirty="0"/>
              <a:t> comfortably.</a:t>
            </a:r>
          </a:p>
          <a:p>
            <a:r>
              <a:rPr sz="1300" b="0" dirty="0"/>
              <a:t>• By type, </a:t>
            </a:r>
            <a:r>
              <a:rPr sz="1300" b="1" dirty="0"/>
              <a:t>material modification is strongest at 39</a:t>
            </a:r>
            <a:r>
              <a:rPr lang="en-US" sz="1300" b="1" dirty="0"/>
              <a:t>%</a:t>
            </a:r>
            <a:r>
              <a:rPr sz="1300" b="0" dirty="0"/>
              <a:t>, and operating practice or training second at 35.5.</a:t>
            </a:r>
          </a:p>
          <a:p>
            <a:r>
              <a:rPr sz="1300" b="0" dirty="0"/>
              <a:t>• On prediction, </a:t>
            </a:r>
            <a:r>
              <a:rPr sz="1300" b="1" dirty="0"/>
              <a:t>AUC 0.523</a:t>
            </a:r>
            <a:r>
              <a:rPr sz="1300" b="0" dirty="0"/>
              <a:t> against a baseline of </a:t>
            </a:r>
            <a:r>
              <a:rPr sz="1300" b="1" dirty="0"/>
              <a:t>0.502</a:t>
            </a:r>
            <a:r>
              <a:rPr sz="1300" b="0" dirty="0"/>
              <a:t>.</a:t>
            </a:r>
            <a:endParaRPr lang="en-US" sz="1300" b="0" dirty="0"/>
          </a:p>
          <a:p>
            <a:endParaRPr sz="1300" b="0" dirty="0"/>
          </a:p>
          <a:p>
            <a:r>
              <a:rPr sz="1300" b="0" dirty="0"/>
              <a:t>• </a:t>
            </a:r>
            <a:r>
              <a:rPr lang="en-US" sz="1300" b="0" dirty="0"/>
              <a:t>I have also performed an </a:t>
            </a:r>
            <a:r>
              <a:rPr sz="1300" b="0" dirty="0"/>
              <a:t>honest</a:t>
            </a:r>
            <a:r>
              <a:rPr lang="en-US" sz="1300" b="0" dirty="0"/>
              <a:t>y check.</a:t>
            </a:r>
            <a:r>
              <a:rPr sz="1300" b="0" dirty="0"/>
              <a:t> </a:t>
            </a:r>
            <a:r>
              <a:rPr sz="1300" b="1" dirty="0"/>
              <a:t>Brier score</a:t>
            </a:r>
            <a:r>
              <a:rPr sz="1300" b="0" dirty="0"/>
              <a:t> checks whether the probabilities are truthful, and lower is better. Mine is 0.218, which is fine.</a:t>
            </a:r>
          </a:p>
          <a:p>
            <a:r>
              <a:rPr sz="1300" b="0" dirty="0"/>
              <a:t>• But predicting the base rate for every record would score about the same. So it tells me the model is </a:t>
            </a:r>
            <a:r>
              <a:rPr sz="1300" b="1" dirty="0"/>
              <a:t>not misleading</a:t>
            </a:r>
            <a:r>
              <a:rPr sz="1300" b="0" dirty="0"/>
              <a:t>. It does not tell me the model is </a:t>
            </a:r>
            <a:r>
              <a:rPr sz="1300" b="1" dirty="0" err="1"/>
              <a:t>skilful</a:t>
            </a:r>
            <a:r>
              <a:rPr sz="1300" b="0" dirty="0"/>
              <a:t>. The AUC is what carries the claim.</a:t>
            </a:r>
          </a:p>
          <a:p>
            <a:r>
              <a:rPr sz="1300" b="0" dirty="0"/>
              <a:t>• Bottom line: the signal is </a:t>
            </a:r>
            <a:r>
              <a:rPr lang="en-US" sz="1300" b="1" dirty="0"/>
              <a:t>REAL</a:t>
            </a:r>
            <a:r>
              <a:rPr sz="1300" b="1" dirty="0"/>
              <a:t>, and it is </a:t>
            </a:r>
            <a:r>
              <a:rPr lang="en-US" sz="1300" b="1" dirty="0"/>
              <a:t>MODEST</a:t>
            </a:r>
            <a:r>
              <a:rPr sz="1300" b="0" dirty="0"/>
              <a:t>. That is exactly why I call this </a:t>
            </a:r>
            <a:r>
              <a:rPr sz="1300" b="1" dirty="0"/>
              <a:t>triage</a:t>
            </a:r>
            <a:r>
              <a:rPr sz="1300" b="0" dirty="0"/>
              <a:t> rather than </a:t>
            </a:r>
            <a:r>
              <a:rPr sz="1300" b="1" dirty="0"/>
              <a:t>automation</a:t>
            </a:r>
            <a:r>
              <a:rPr sz="1300" b="0" dirty="0"/>
              <a:t>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REMEMBER</a:t>
            </a:r>
          </a:p>
          <a:p>
            <a:r>
              <a:rPr sz="1300" b="0" dirty="0"/>
              <a:t>• Say the modest part out loud before they have to ask for it.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LIKELY QUESTIONS</a:t>
            </a:r>
          </a:p>
          <a:p>
            <a:r>
              <a:rPr sz="1300" b="0" dirty="0"/>
              <a:t>→ </a:t>
            </a:r>
            <a:r>
              <a:rPr sz="1300" b="1" dirty="0"/>
              <a:t>What is the accuracy?</a:t>
            </a:r>
            <a:r>
              <a:rPr sz="1300" b="0" dirty="0"/>
              <a:t>  At the F1-optimal threshold the model flags almost everything: recall 0.9999, precision 0.68. Accuracy would read as 68 percent and mean nothing, because always predicting non-reduction scores the same. That is why I lead with AUC and Brier. </a:t>
            </a:r>
            <a:r>
              <a:rPr sz="1300" b="0" dirty="0" err="1"/>
              <a:t>Steyerberg</a:t>
            </a:r>
            <a:r>
              <a:rPr sz="1300" b="0" dirty="0"/>
              <a:t> and colleagues argue for discrimination plus calibration, not accuracy, on exactly these grounds.</a:t>
            </a:r>
          </a:p>
          <a:p>
            <a:r>
              <a:rPr sz="1300" b="0" dirty="0"/>
              <a:t>→ </a:t>
            </a:r>
            <a:r>
              <a:rPr sz="1300" b="1" dirty="0"/>
              <a:t>How do the models compare?</a:t>
            </a:r>
            <a:r>
              <a:rPr sz="1300" b="0" dirty="0"/>
              <a:t>  Elastic-net </a:t>
            </a:r>
            <a:r>
              <a:rPr sz="1300" b="1" dirty="0"/>
              <a:t>0.5231</a:t>
            </a:r>
            <a:r>
              <a:rPr sz="1300" b="0" dirty="0"/>
              <a:t>, baseline </a:t>
            </a:r>
            <a:r>
              <a:rPr sz="1300" b="1" dirty="0"/>
              <a:t>0.5023</a:t>
            </a:r>
            <a:r>
              <a:rPr sz="1300" b="0" dirty="0"/>
              <a:t>, gap </a:t>
            </a:r>
            <a:r>
              <a:rPr sz="1300" b="1" dirty="0"/>
              <a:t>0.0208</a:t>
            </a:r>
            <a:r>
              <a:rPr sz="1300" b="0" dirty="0"/>
              <a:t> with an interval of 0.014 to 0.027, from a paired bootstrap resampled by facility. Small, but it excludes zero. Brier 0.2176 against 0.2180.</a:t>
            </a:r>
          </a:p>
          <a:p>
            <a:r>
              <a:rPr sz="1300" b="0" dirty="0"/>
              <a:t>→ </a:t>
            </a:r>
            <a:r>
              <a:rPr sz="1300" b="1" dirty="0"/>
              <a:t>Is a weak result still a contribution?</a:t>
            </a:r>
            <a:r>
              <a:rPr sz="1300" b="0" dirty="0"/>
              <a:t>  Yes. It shows the ceiling is in the </a:t>
            </a:r>
            <a:r>
              <a:rPr sz="1300" b="1" dirty="0"/>
              <a:t>data</a:t>
            </a:r>
            <a:r>
              <a:rPr sz="1300" b="0" dirty="0"/>
              <a:t>, not the method. Checkbox filings alone cannot underpin predictive enforcement.</a:t>
            </a:r>
          </a:p>
          <a:p>
            <a:r>
              <a:rPr sz="1300" b="0" dirty="0"/>
              <a:t>→ </a:t>
            </a:r>
            <a:r>
              <a:rPr sz="1300" b="1" dirty="0"/>
              <a:t>Does 14 percent mean the action caused the reduction?</a:t>
            </a:r>
            <a:r>
              <a:rPr sz="1300" b="0" dirty="0"/>
              <a:t>  No. Facilities chose to report. I control for what is observable, not for management commitment or capital budget.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 b="1" dirty="0"/>
              <a:t>RESULTS 2 OF 2</a:t>
            </a:r>
            <a:r>
              <a:rPr sz="1300" b="0" dirty="0"/>
              <a:t>  |  40 sec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SAY</a:t>
            </a:r>
          </a:p>
          <a:p>
            <a:r>
              <a:rPr sz="1300" b="0" dirty="0"/>
              <a:t>• </a:t>
            </a:r>
            <a:r>
              <a:rPr lang="en-US" sz="1300" b="0" dirty="0"/>
              <a:t>Here are </a:t>
            </a:r>
            <a:r>
              <a:rPr sz="1300" b="0" dirty="0"/>
              <a:t>Two pictures </a:t>
            </a:r>
            <a:r>
              <a:rPr lang="en-US" sz="1300" b="0" dirty="0"/>
              <a:t>to further ground my results</a:t>
            </a:r>
            <a:r>
              <a:rPr sz="1300" b="0" dirty="0"/>
              <a:t>.</a:t>
            </a:r>
            <a:endParaRPr lang="en-US" sz="1300" b="0" dirty="0"/>
          </a:p>
          <a:p>
            <a:endParaRPr sz="1300" b="0" dirty="0"/>
          </a:p>
          <a:p>
            <a:r>
              <a:rPr sz="1300" b="0" dirty="0"/>
              <a:t>• </a:t>
            </a:r>
            <a:r>
              <a:rPr sz="1300" b="1" dirty="0"/>
              <a:t>On the left</a:t>
            </a:r>
            <a:r>
              <a:rPr sz="1300" b="0" dirty="0"/>
              <a:t>, action types ordered by reduction rate. The grey bar on the far left is no action, at 31</a:t>
            </a:r>
            <a:r>
              <a:rPr lang="en-US" sz="1300" b="0" dirty="0"/>
              <a:t>%</a:t>
            </a:r>
            <a:r>
              <a:rPr sz="1300" b="0" dirty="0"/>
              <a:t>.</a:t>
            </a:r>
          </a:p>
          <a:p>
            <a:r>
              <a:rPr sz="1300" b="0" dirty="0"/>
              <a:t>• The three grey bars next to it look higher, but once corrected for five comparisons </a:t>
            </a:r>
            <a:r>
              <a:rPr sz="1300" b="1" dirty="0"/>
              <a:t>they do not hold</a:t>
            </a:r>
            <a:r>
              <a:rPr sz="1300" b="0" dirty="0"/>
              <a:t>. The two in teal do.</a:t>
            </a:r>
          </a:p>
          <a:p>
            <a:r>
              <a:rPr sz="1300" b="0" dirty="0"/>
              <a:t>• And there is a pattern worth naming: changing </a:t>
            </a:r>
            <a:r>
              <a:rPr sz="1300" b="1" dirty="0"/>
              <a:t>what goes into</a:t>
            </a:r>
            <a:r>
              <a:rPr sz="1300" b="0" dirty="0"/>
              <a:t> the process beats changing </a:t>
            </a:r>
            <a:r>
              <a:rPr sz="1300" b="1" dirty="0"/>
              <a:t>how it is run</a:t>
            </a:r>
            <a:r>
              <a:rPr sz="1300" b="0" dirty="0"/>
              <a:t>.</a:t>
            </a:r>
            <a:endParaRPr lang="en-US" sz="1300" b="0" dirty="0"/>
          </a:p>
          <a:p>
            <a:endParaRPr sz="1300" b="0" dirty="0"/>
          </a:p>
          <a:p>
            <a:r>
              <a:rPr sz="1300" b="0" dirty="0"/>
              <a:t>• </a:t>
            </a:r>
            <a:r>
              <a:rPr sz="1300" b="1" dirty="0"/>
              <a:t>On the right</a:t>
            </a:r>
            <a:r>
              <a:rPr sz="1300" b="0" dirty="0"/>
              <a:t>, what the ranking actually buys you. Grey is the base rate, </a:t>
            </a:r>
            <a:r>
              <a:rPr sz="1300" b="1" dirty="0"/>
              <a:t>68</a:t>
            </a:r>
            <a:r>
              <a:rPr lang="en-US" sz="1300" b="1" dirty="0"/>
              <a:t>%</a:t>
            </a:r>
            <a:r>
              <a:rPr sz="1300" b="0" dirty="0"/>
              <a:t> of all records fail to reduce.</a:t>
            </a:r>
          </a:p>
          <a:p>
            <a:r>
              <a:rPr sz="1300" b="0" dirty="0"/>
              <a:t>• Review just the </a:t>
            </a:r>
            <a:r>
              <a:rPr sz="1300" b="1" dirty="0"/>
              <a:t>top </a:t>
            </a:r>
            <a:r>
              <a:rPr lang="en-US" sz="1300" b="1" dirty="0"/>
              <a:t>5%</a:t>
            </a:r>
            <a:r>
              <a:rPr sz="1300" b="0" dirty="0"/>
              <a:t> of the ranked list and </a:t>
            </a:r>
            <a:r>
              <a:rPr lang="en-US" sz="1300" b="0" dirty="0"/>
              <a:t>around </a:t>
            </a:r>
            <a:r>
              <a:rPr lang="en-US" sz="1300" b="1" dirty="0"/>
              <a:t>74%</a:t>
            </a:r>
            <a:r>
              <a:rPr sz="1300" b="0" dirty="0"/>
              <a:t> are genuine misses. </a:t>
            </a:r>
            <a:r>
              <a:rPr lang="en-US" sz="1300" b="0" dirty="0"/>
              <a:t>T</a:t>
            </a:r>
            <a:r>
              <a:rPr lang="en-IN" sz="1400" dirty="0"/>
              <a:t>he focussed non-reducers are where the work is! </a:t>
            </a:r>
            <a:r>
              <a:rPr sz="1300" b="0" dirty="0"/>
              <a:t>Go deeper </a:t>
            </a:r>
            <a:r>
              <a:rPr lang="en-US" sz="1300" b="0" dirty="0"/>
              <a:t>to the right </a:t>
            </a:r>
            <a:r>
              <a:rPr sz="1300" b="0" dirty="0"/>
              <a:t>and it fades</a:t>
            </a:r>
            <a:r>
              <a:rPr lang="en-US" sz="1300" b="0" dirty="0"/>
              <a:t> back toward the base rate, which it has to</a:t>
            </a:r>
            <a:r>
              <a:rPr sz="1300" b="0" dirty="0"/>
              <a:t>.</a:t>
            </a:r>
          </a:p>
          <a:p>
            <a:r>
              <a:rPr sz="1300" b="0" dirty="0"/>
              <a:t>• So the value is </a:t>
            </a:r>
            <a:r>
              <a:rPr sz="1300" b="1" dirty="0"/>
              <a:t>front-loaded</a:t>
            </a:r>
            <a:r>
              <a:rPr sz="1300" b="0" dirty="0"/>
              <a:t>. Reviewing the top slice beats reviewing at random. 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REMEMBER</a:t>
            </a:r>
          </a:p>
          <a:p>
            <a:r>
              <a:rPr sz="1300" b="0" dirty="0"/>
              <a:t>• The lift lives at the very top of the list. That is the honest scope of this tool.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LIKELY QUESTIONS</a:t>
            </a:r>
          </a:p>
          <a:p>
            <a:r>
              <a:rPr sz="1300" b="0" dirty="0"/>
              <a:t>→ </a:t>
            </a:r>
            <a:r>
              <a:rPr sz="1300" b="1" dirty="0"/>
              <a:t>Is six points worth anything?</a:t>
            </a:r>
            <a:r>
              <a:rPr sz="1300" b="0" dirty="0"/>
              <a:t>  It depends on capacity. Review 2,000 records out of 40,000 and ranking finds roughly </a:t>
            </a:r>
            <a:r>
              <a:rPr sz="1300" b="1" dirty="0"/>
              <a:t>120 more genuine cases</a:t>
            </a:r>
            <a:r>
              <a:rPr sz="1300" b="0" dirty="0"/>
              <a:t> for identical effort. Modest, and effectively free once the model exists.</a:t>
            </a:r>
          </a:p>
          <a:p>
            <a:r>
              <a:rPr sz="1300" b="0" dirty="0"/>
              <a:t>→ </a:t>
            </a:r>
            <a:r>
              <a:rPr sz="1300" b="1" dirty="0"/>
              <a:t>Why do three action types fail?</a:t>
            </a:r>
            <a:r>
              <a:rPr sz="1300" b="0" dirty="0"/>
              <a:t>  Either they genuinely do not work, or too few facilities report them to detect a small effect. I cannot separate those. </a:t>
            </a:r>
            <a:r>
              <a:rPr sz="1300" b="1" dirty="0"/>
              <a:t>Not significant means not demonstrated, not disproved.</a:t>
            </a:r>
          </a:p>
          <a:p>
            <a:r>
              <a:rPr sz="1300" b="0" dirty="0"/>
              <a:t>→ </a:t>
            </a:r>
            <a:r>
              <a:rPr sz="1300" b="1" dirty="0"/>
              <a:t>Does the left chart prove material modification works?</a:t>
            </a:r>
            <a:r>
              <a:rPr sz="1300" b="0" dirty="0"/>
              <a:t>  No. Those are unadjusted rates, and facilities choosing it are likely larger and better resourced. It is a signal about where to look.</a:t>
            </a:r>
            <a:endParaRPr lang="en-US" sz="1300" b="0" dirty="0"/>
          </a:p>
          <a:p>
            <a:endParaRPr lang="en-IN" sz="1300" b="0" dirty="0"/>
          </a:p>
          <a:p>
            <a:r>
              <a:rPr lang="en-IN" sz="1300" b="0" dirty="0"/>
              <a:t>2</a:t>
            </a:r>
            <a:r>
              <a:rPr lang="en-IN" sz="1300" b="0" baseline="30000" dirty="0"/>
              <a:t>nd</a:t>
            </a:r>
            <a:r>
              <a:rPr lang="en-IN" sz="1300" b="0" dirty="0"/>
              <a:t> image </a:t>
            </a:r>
            <a:r>
              <a:rPr lang="en-IN" sz="1300" b="0" dirty="0" err="1"/>
              <a:t>explantion</a:t>
            </a:r>
            <a:r>
              <a:rPr lang="en-IN" sz="1300" b="0" dirty="0"/>
              <a:t> </a:t>
            </a:r>
          </a:p>
          <a:p>
            <a:pPr rtl="0"/>
            <a:r>
              <a:rPr lang="en-IN" sz="1400" dirty="0"/>
              <a:t>The model scores every record and sorts them from highest risk to lowest. Each bar then asks: if you reviewed only that top slice, what fraction of what you looked at would be genuine non-reducers?</a:t>
            </a:r>
          </a:p>
          <a:p>
            <a:pPr lvl="0" rtl="0"/>
            <a:r>
              <a:rPr lang="en-IN" sz="1400" b="1" dirty="0"/>
              <a:t>Top 5%</a:t>
            </a:r>
            <a:r>
              <a:rPr lang="en-IN" sz="1400" dirty="0"/>
              <a:t> — review the 2,000 highest-risk records out of 40,000 → 73.9 percent are real misses</a:t>
            </a:r>
          </a:p>
          <a:p>
            <a:pPr lvl="0" rtl="0"/>
            <a:r>
              <a:rPr lang="en-IN" sz="1400" b="1" dirty="0"/>
              <a:t>Top 10%</a:t>
            </a:r>
            <a:r>
              <a:rPr lang="en-IN" sz="1400" dirty="0"/>
              <a:t> — review the top 4,000 → 72.5 percent</a:t>
            </a:r>
          </a:p>
          <a:p>
            <a:pPr lvl="0" rtl="0"/>
            <a:r>
              <a:rPr lang="en-IN" sz="1400" b="1" dirty="0"/>
              <a:t>Top 20%</a:t>
            </a:r>
            <a:r>
              <a:rPr lang="en-IN" sz="1400" dirty="0"/>
              <a:t> — top 8,000 → 71.4 percent</a:t>
            </a:r>
          </a:p>
          <a:p>
            <a:pPr lvl="0" rtl="0"/>
            <a:r>
              <a:rPr lang="en-IN" sz="1400" b="1" dirty="0"/>
              <a:t>Top 30%</a:t>
            </a:r>
            <a:r>
              <a:rPr lang="en-IN" sz="1400" dirty="0"/>
              <a:t> — top 12,000 → 70.7 percent</a:t>
            </a:r>
          </a:p>
          <a:p>
            <a:pPr lvl="0" rtl="0"/>
            <a:r>
              <a:rPr lang="en-IN" sz="1400" b="1" dirty="0"/>
              <a:t>All records</a:t>
            </a:r>
            <a:r>
              <a:rPr lang="en-IN" sz="1400" dirty="0"/>
              <a:t> — review everything → 68.0 percent, which is just the base rate</a:t>
            </a:r>
          </a:p>
          <a:p>
            <a:endParaRPr sz="1300" b="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b453ca69b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b453ca69b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500" b="1" dirty="0"/>
              <a:t>IMPLEMENTATION AND USER BENEFIT</a:t>
            </a:r>
            <a:r>
              <a:rPr sz="1500" b="0" dirty="0"/>
              <a:t>  |  50 sec  |  </a:t>
            </a:r>
            <a:r>
              <a:rPr sz="1500" b="1" dirty="0"/>
              <a:t>THIS SLIDE SELLS IT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SAY</a:t>
            </a:r>
          </a:p>
          <a:p>
            <a:r>
              <a:rPr sz="1300" b="0" dirty="0"/>
              <a:t>• So what does a team actually do with this on a Monday morning? Four things, all available .</a:t>
            </a:r>
          </a:p>
          <a:p>
            <a:pPr lvl="1"/>
            <a:r>
              <a:rPr sz="1300" b="1" dirty="0"/>
              <a:t>First, triage.</a:t>
            </a:r>
            <a:r>
              <a:rPr sz="1300" b="0" dirty="0"/>
              <a:t> Review capacity is fixed, so hold it fixed and work the ranked list top down instead of by habit. Same hours, better hit rate.</a:t>
            </a:r>
          </a:p>
          <a:p>
            <a:pPr lvl="1"/>
            <a:r>
              <a:rPr sz="1300" b="1" dirty="0"/>
              <a:t>Second, spend where the evidence is.</a:t>
            </a:r>
            <a:r>
              <a:rPr sz="1300" b="0" dirty="0"/>
              <a:t> Prevention is not one thing. Fund material modification and operating practice or training, pilot them, share what works across sites.</a:t>
            </a:r>
          </a:p>
          <a:p>
            <a:pPr lvl="1"/>
            <a:r>
              <a:rPr sz="1300" b="1" dirty="0"/>
              <a:t>Third, weight by pounds at risk.</a:t>
            </a:r>
            <a:r>
              <a:rPr sz="1300" b="0" dirty="0"/>
              <a:t> Every record carries its release quantity, so multiply risk by volume. A moderate-risk record with fifty thousand pounds matters far more than a high-risk one with a hundred. This turns a statistical ranking into an </a:t>
            </a:r>
            <a:r>
              <a:rPr sz="1300" b="1" dirty="0"/>
              <a:t>environmental</a:t>
            </a:r>
            <a:r>
              <a:rPr sz="1300" b="0" dirty="0"/>
              <a:t> one.</a:t>
            </a:r>
          </a:p>
          <a:p>
            <a:pPr lvl="1"/>
            <a:r>
              <a:rPr sz="1300" b="1" dirty="0"/>
              <a:t>Fourth, benchmark against peers and trend</a:t>
            </a:r>
            <a:r>
              <a:rPr sz="1300" b="0" dirty="0"/>
              <a:t>, not against last year. Rates vary fifteen points by industry and rise over time, so a flat target punishes the wrong sites.</a:t>
            </a:r>
          </a:p>
          <a:p>
            <a:r>
              <a:rPr sz="1300" b="0" dirty="0"/>
              <a:t>• And the same worklist feeds </a:t>
            </a:r>
            <a:r>
              <a:rPr sz="1300" b="1" dirty="0"/>
              <a:t>green investment planning and sustainability reporting</a:t>
            </a:r>
            <a:r>
              <a:rPr sz="1300" b="0" dirty="0"/>
              <a:t>, because it already ranks sites by pounds at risk.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REMEMBER</a:t>
            </a:r>
          </a:p>
          <a:p>
            <a:r>
              <a:rPr sz="1300" b="0" dirty="0"/>
              <a:t>• None of this needs new data, new systems or new authority. It reorders work a team already does, and </a:t>
            </a:r>
            <a:r>
              <a:rPr sz="1300" b="1" dirty="0"/>
              <a:t>the human still decides</a:t>
            </a:r>
            <a:r>
              <a:rPr sz="1300" b="0" dirty="0"/>
              <a:t>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LIKELY QUESTIONS</a:t>
            </a:r>
          </a:p>
          <a:p>
            <a:r>
              <a:rPr sz="1300" b="0" dirty="0"/>
              <a:t>→ </a:t>
            </a:r>
            <a:r>
              <a:rPr sz="1300" b="1" dirty="0"/>
              <a:t>Can you quantify the benefit?</a:t>
            </a:r>
            <a:r>
              <a:rPr sz="1300" b="0" dirty="0"/>
              <a:t>  Roughly 120 extra genuine cases per 2,000 reviewed. The larger gain is the third item, steering the same hours toward high-volume releases.</a:t>
            </a:r>
          </a:p>
          <a:p>
            <a:r>
              <a:rPr sz="1300" b="0" dirty="0"/>
              <a:t>→ </a:t>
            </a:r>
            <a:r>
              <a:rPr sz="1300" b="1" dirty="0"/>
              <a:t>Is there a risk of misuse?</a:t>
            </a:r>
            <a:r>
              <a:rPr sz="1300" b="0" dirty="0"/>
              <a:t>  Yes, and worth naming. Used punitively, facilities would learn to underreport actions and the signal would decay. It has to sit inside the </a:t>
            </a:r>
            <a:r>
              <a:rPr sz="1300" b="0" dirty="0" err="1"/>
              <a:t>organisation</a:t>
            </a:r>
            <a:r>
              <a:rPr sz="1300" b="0" dirty="0"/>
              <a:t> as a </a:t>
            </a:r>
            <a:r>
              <a:rPr sz="1300" b="0" dirty="0" err="1"/>
              <a:t>prioritisation</a:t>
            </a:r>
            <a:r>
              <a:rPr sz="1300" b="0" dirty="0"/>
              <a:t> aid.</a:t>
            </a:r>
          </a:p>
          <a:p>
            <a:r>
              <a:rPr sz="1300" b="0" dirty="0"/>
              <a:t>→ </a:t>
            </a:r>
            <a:r>
              <a:rPr sz="1300" b="1" dirty="0"/>
              <a:t>What would improve it most?</a:t>
            </a:r>
            <a:r>
              <a:rPr sz="1300" b="0" dirty="0"/>
              <a:t>  Cost, timing and completion status for each action. TRI does not collect any of that.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b453ca69b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b453ca69b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300" b="1" dirty="0"/>
              <a:t>CONCLUSION</a:t>
            </a:r>
            <a:r>
              <a:rPr sz="1300" b="0" dirty="0"/>
              <a:t>  |  35 sec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SAY</a:t>
            </a:r>
          </a:p>
          <a:p>
            <a:r>
              <a:rPr lang="en-US" sz="1300" b="0" dirty="0"/>
              <a:t>In conclusion</a:t>
            </a:r>
            <a:endParaRPr sz="1300" b="0" dirty="0"/>
          </a:p>
          <a:p>
            <a:r>
              <a:rPr sz="1300" b="0" dirty="0"/>
              <a:t>• Reported prevention actions </a:t>
            </a:r>
            <a:r>
              <a:rPr sz="1300" b="1" dirty="0"/>
              <a:t>do carry information</a:t>
            </a:r>
            <a:r>
              <a:rPr sz="1300" b="0" dirty="0"/>
              <a:t>, about 14</a:t>
            </a:r>
            <a:r>
              <a:rPr lang="en-US" sz="1300" b="0" dirty="0"/>
              <a:t>%</a:t>
            </a:r>
            <a:r>
              <a:rPr sz="1300" b="0" dirty="0"/>
              <a:t> higher adjusted odds. But </a:t>
            </a:r>
            <a:r>
              <a:rPr sz="1300" b="1" dirty="0"/>
              <a:t>not equally</a:t>
            </a:r>
            <a:r>
              <a:rPr sz="1300" b="0" dirty="0"/>
              <a:t>. </a:t>
            </a:r>
            <a:r>
              <a:rPr sz="1300" b="1" dirty="0"/>
              <a:t>Material modification </a:t>
            </a:r>
            <a:r>
              <a:rPr sz="1300" b="0" dirty="0"/>
              <a:t>and </a:t>
            </a:r>
            <a:r>
              <a:rPr sz="1300" b="1" dirty="0"/>
              <a:t>operating practice or training</a:t>
            </a:r>
            <a:r>
              <a:rPr sz="1300" b="0" dirty="0"/>
              <a:t> are the two that hold up.</a:t>
            </a:r>
          </a:p>
          <a:p>
            <a:r>
              <a:rPr sz="1300" b="0" dirty="0"/>
              <a:t>• And context matters, which is why raw before-and-after comparisons are not enough.</a:t>
            </a:r>
            <a:endParaRPr lang="en-US" sz="1300" b="0" dirty="0"/>
          </a:p>
          <a:p>
            <a:endParaRPr sz="1300" b="0" dirty="0"/>
          </a:p>
          <a:p>
            <a:r>
              <a:rPr sz="1300" b="0" dirty="0"/>
              <a:t>• The</a:t>
            </a:r>
            <a:r>
              <a:rPr lang="en-US" sz="1300" b="0" dirty="0"/>
              <a:t>re are few</a:t>
            </a:r>
            <a:r>
              <a:rPr sz="1300" b="0" dirty="0"/>
              <a:t> limitations. This is </a:t>
            </a:r>
            <a:r>
              <a:rPr sz="1300" b="1" dirty="0"/>
              <a:t>observational</a:t>
            </a:r>
            <a:r>
              <a:rPr sz="1300" b="0" dirty="0"/>
              <a:t>, so it is association, not proof of cause. The predictive lift is </a:t>
            </a:r>
            <a:r>
              <a:rPr sz="1300" b="1" dirty="0"/>
              <a:t>modest</a:t>
            </a:r>
            <a:r>
              <a:rPr sz="1300" b="0" dirty="0"/>
              <a:t>. And reported actions are </a:t>
            </a:r>
            <a:r>
              <a:rPr sz="1300" b="1" dirty="0"/>
              <a:t>rare</a:t>
            </a:r>
            <a:r>
              <a:rPr sz="1300" b="0" dirty="0"/>
              <a:t>, under </a:t>
            </a:r>
            <a:r>
              <a:rPr lang="en-US" sz="1300" b="0" dirty="0"/>
              <a:t>5%</a:t>
            </a:r>
            <a:r>
              <a:rPr sz="1300" b="0" dirty="0"/>
              <a:t>, which limits precision.</a:t>
            </a:r>
            <a:endParaRPr lang="en-US" sz="1300" b="0" dirty="0"/>
          </a:p>
          <a:p>
            <a:endParaRPr sz="1300" b="0" dirty="0"/>
          </a:p>
          <a:p>
            <a:r>
              <a:rPr sz="1300" b="0" dirty="0"/>
              <a:t>• Future work is mostly a </a:t>
            </a:r>
            <a:r>
              <a:rPr sz="1300" b="1" dirty="0"/>
              <a:t>data</a:t>
            </a:r>
            <a:r>
              <a:rPr sz="1300" b="0" dirty="0"/>
              <a:t> question. </a:t>
            </a:r>
            <a:r>
              <a:rPr lang="en-US" sz="1300" b="0" dirty="0"/>
              <a:t>I would recommend to </a:t>
            </a:r>
            <a:r>
              <a:rPr sz="1300" b="0" dirty="0"/>
              <a:t>Add cost, timing, process detail and sustainability investment, and this improves substantially.</a:t>
            </a:r>
            <a:endParaRPr lang="en-US" sz="1300" b="0" dirty="0"/>
          </a:p>
          <a:p>
            <a:endParaRPr sz="1300" b="0" dirty="0"/>
          </a:p>
          <a:p>
            <a:r>
              <a:rPr sz="1300" b="0" dirty="0"/>
              <a:t>• Four questions</a:t>
            </a:r>
            <a:r>
              <a:rPr lang="en-US" sz="1300" b="0" dirty="0"/>
              <a:t> and the Model results </a:t>
            </a:r>
            <a:r>
              <a:rPr sz="1300" b="0" dirty="0"/>
              <a:t>each doing one job. </a:t>
            </a:r>
            <a:r>
              <a:rPr lang="en-US" sz="1300" b="0" dirty="0"/>
              <a:t>T</a:t>
            </a:r>
            <a:r>
              <a:rPr sz="1300" b="0" dirty="0"/>
              <a:t>ogether they answer the business problem: </a:t>
            </a:r>
            <a:r>
              <a:rPr sz="1300" b="1" dirty="0"/>
              <a:t>how does a busy team decide where to look first.</a:t>
            </a:r>
          </a:p>
          <a:p>
            <a:r>
              <a:rPr sz="1300" b="0" dirty="0"/>
              <a:t>• My answer is a transparent, evidence-based way to order that queue.</a:t>
            </a:r>
          </a:p>
          <a:p>
            <a:r>
              <a:rPr sz="1300" b="0" dirty="0"/>
              <a:t>• </a:t>
            </a:r>
            <a:r>
              <a:rPr lang="en-US" sz="1300" b="0" dirty="0"/>
              <a:t>Its undoubtable a model for </a:t>
            </a:r>
            <a:r>
              <a:rPr sz="1300" b="1" dirty="0"/>
              <a:t>Decision support, not decision maker.</a:t>
            </a:r>
          </a:p>
          <a:p>
            <a:r>
              <a:rPr sz="1300" b="0" dirty="0"/>
              <a:t>• Thank you. I am happy to take your questions.</a:t>
            </a:r>
          </a:p>
          <a:p>
            <a:r>
              <a:rPr sz="900" b="0" dirty="0"/>
              <a:t>──────────────────────────────────────────────</a:t>
            </a:r>
          </a:p>
          <a:p>
            <a:r>
              <a:rPr sz="1500" b="1" dirty="0"/>
              <a:t>REMEMBER</a:t>
            </a:r>
          </a:p>
          <a:p>
            <a:r>
              <a:rPr sz="1300" b="0" dirty="0"/>
              <a:t>• Land that last line and stop talking. Do not add anything after it.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b453ca69b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b453ca69b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300" b="1"/>
              <a:t>BIBLIOGRAPHY</a:t>
            </a:r>
            <a:r>
              <a:rPr sz="1300" b="0"/>
              <a:t>  |  10 sec</a:t>
            </a:r>
          </a:p>
          <a:p>
            <a:r>
              <a:rPr sz="900" b="0"/>
              <a:t>──────────────────────────────────────────────</a:t>
            </a:r>
          </a:p>
          <a:p>
            <a:r>
              <a:rPr sz="1500" b="1"/>
              <a:t>SAY</a:t>
            </a:r>
          </a:p>
          <a:p>
            <a:r>
              <a:rPr sz="1300" b="0"/>
              <a:t>• These are the sources behind the methods and the prior findings. Full citations are in the written report.</a:t>
            </a:r>
          </a:p>
          <a:p>
            <a:r>
              <a:rPr sz="900" b="0"/>
              <a:t>──────────────────────────────────────────────</a:t>
            </a:r>
          </a:p>
          <a:p>
            <a:r>
              <a:rPr sz="1500" b="1"/>
              <a:t>REMEMBER</a:t>
            </a:r>
          </a:p>
          <a:p>
            <a:r>
              <a:rPr sz="1300" b="0"/>
              <a:t>• Bridge into Q&amp;A. Do not read the list.</a:t>
            </a:r>
          </a:p>
          <a:p>
            <a:r>
              <a:rPr sz="900" b="0"/>
              <a:t>──────────────────────────────────────────────</a:t>
            </a:r>
          </a:p>
          <a:p>
            <a:r>
              <a:rPr sz="1500" b="1"/>
              <a:t>BROADER QUESTIONS TO BE READY FOR</a:t>
            </a:r>
          </a:p>
          <a:p>
            <a:r>
              <a:rPr sz="1300" b="0"/>
              <a:t>→ </a:t>
            </a:r>
            <a:r>
              <a:rPr sz="1300" b="1"/>
              <a:t>What would you do differently?</a:t>
            </a:r>
            <a:r>
              <a:rPr sz="1300" b="0"/>
              <a:t>  Reconstruct the holdout labels earlier, and test a facility-level model alongside the record-level one.</a:t>
            </a:r>
          </a:p>
          <a:p>
            <a:r>
              <a:rPr sz="1300" b="0"/>
              <a:t>→ </a:t>
            </a:r>
            <a:r>
              <a:rPr sz="1300" b="1"/>
              <a:t>What are you most confident in?</a:t>
            </a:r>
            <a:r>
              <a:rPr sz="1300" b="0"/>
              <a:t>  The association result. It survives clustering, adjustment, and a pandemic-period sensitivity check.</a:t>
            </a:r>
          </a:p>
          <a:p>
            <a:r>
              <a:rPr sz="1300" b="0"/>
              <a:t>→ </a:t>
            </a:r>
            <a:r>
              <a:rPr sz="1300" b="1"/>
              <a:t>What are you least confident in?</a:t>
            </a:r>
            <a:r>
              <a:rPr sz="1300" b="0"/>
              <a:t>  The predictive ranking. Real but thin. I would not extend it beyond triage.</a:t>
            </a:r>
          </a:p>
          <a:p>
            <a:r>
              <a:rPr sz="1300" b="0"/>
              <a:t>→ </a:t>
            </a:r>
            <a:r>
              <a:rPr sz="1300" b="1"/>
              <a:t>If you do not know:</a:t>
            </a:r>
            <a:r>
              <a:rPr sz="1300" b="0"/>
              <a:t>  say so plainly, say how you would find out, and move 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aleway"/>
          <a:ea typeface="Raleway"/>
          <a:cs typeface="Raleway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aleway"/>
          <a:ea typeface="Raleway"/>
          <a:cs typeface="Raleway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aleway"/>
          <a:ea typeface="Raleway"/>
          <a:cs typeface="Raleway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aleway"/>
          <a:ea typeface="Raleway"/>
          <a:cs typeface="Raleway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aleway"/>
          <a:ea typeface="Raleway"/>
          <a:cs typeface="Raleway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aleway"/>
          <a:ea typeface="Raleway"/>
          <a:cs typeface="Raleway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aleway"/>
          <a:ea typeface="Raleway"/>
          <a:cs typeface="Raleway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aleway"/>
          <a:ea typeface="Raleway"/>
          <a:cs typeface="Raleway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aleway"/>
          <a:ea typeface="Raleway"/>
          <a:cs typeface="Raleway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/>
          <a:ea typeface="Lato"/>
          <a:cs typeface="Lato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pa.gov/toxics-release-inventory-tri-program/tri-basic-plus-data-files-calendar-years-1987-prese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300" i="0" dirty="0">
                <a:sym typeface="Times New Roman"/>
              </a:rPr>
              <a:t>Pollution-Prevention Actions and Next-Year Toxic Release Reduction in U.S. Manufacturing</a:t>
            </a: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br>
              <a:rPr lang="en-US" sz="2300" i="0" dirty="0">
                <a:sym typeface="Times New Roman"/>
              </a:rPr>
            </a:br>
            <a:r>
              <a:rPr lang="en-US" sz="2300" i="0" dirty="0">
                <a:sym typeface="Times New Roman"/>
              </a:rPr>
              <a:t>Final Presentation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450" y="3056825"/>
            <a:ext cx="8102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ym typeface="Times New Roman"/>
              </a:rPr>
              <a:t>Somnath Das  |  Data Analytics Capstone  |  QM640  |  Walsh College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ym typeface="Times New Roman"/>
              </a:rPr>
              <a:t>Mentor</a:t>
            </a:r>
            <a:r>
              <a:rPr lang="en-US" sz="1800" b="0" i="0">
                <a:sym typeface="Times New Roman"/>
              </a:rPr>
              <a:t>: </a:t>
            </a:r>
            <a:r>
              <a:rPr lang="en-US" sz="1800">
                <a:sym typeface="Times New Roman"/>
              </a:rPr>
              <a:t>Professor </a:t>
            </a:r>
            <a:r>
              <a:rPr lang="en-US" sz="1800" b="0" i="0" dirty="0">
                <a:sym typeface="Times New Roman"/>
              </a:rPr>
              <a:t>Rishab Pandey  |  Summer 2026</a:t>
            </a:r>
          </a:p>
        </p:txBody>
      </p:sp>
    </p:spTree>
    <p:extLst>
      <p:ext uri="{BB962C8B-B14F-4D97-AF65-F5344CB8AC3E}">
        <p14:creationId xmlns:p14="http://schemas.microsoft.com/office/powerpoint/2010/main" val="675920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Executive Summary</a:t>
            </a:r>
            <a:endParaRPr dirty="0"/>
          </a:p>
        </p:txBody>
      </p:sp>
      <p:sp>
        <p:nvSpPr>
          <p:cNvPr id="95" name="TextBox 94"/>
          <p:cNvSpPr txBox="1"/>
          <p:nvPr/>
        </p:nvSpPr>
        <p:spPr>
          <a:xfrm>
            <a:off x="1339450" y="2078999"/>
            <a:ext cx="73533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00" b="1" i="0" dirty="0">
                <a:solidFill>
                  <a:srgbClr val="1A9988"/>
                </a:solidFill>
                <a:latin typeface="Lato"/>
                <a:ea typeface="Lato"/>
                <a:cs typeface="Lato"/>
              </a:rPr>
              <a:t>Objective:  </a:t>
            </a:r>
            <a:r>
              <a:rPr lang="en-US" sz="1300" b="0" i="0" dirty="0">
                <a:solidFill>
                  <a:srgbClr val="1A1A1A"/>
                </a:solidFill>
                <a:latin typeface="Lato"/>
                <a:ea typeface="Lato"/>
                <a:cs typeface="Lato"/>
              </a:rPr>
              <a:t>Do reported prevention actions actually lead to lower toxic releases the next year — and can we predict which facilities will fall short?</a:t>
            </a:r>
            <a:endParaRPr sz="1300" b="0" i="0" dirty="0">
              <a:solidFill>
                <a:srgbClr val="1A1A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339450" y="3278414"/>
            <a:ext cx="7353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00" b="1" i="0" dirty="0">
                <a:solidFill>
                  <a:srgbClr val="A67A0A"/>
                </a:solidFill>
                <a:latin typeface="Lato"/>
                <a:ea typeface="Lato"/>
                <a:cs typeface="Lato"/>
              </a:rPr>
              <a:t>Data:  </a:t>
            </a:r>
            <a:r>
              <a:rPr sz="1300" b="0" i="0" dirty="0">
                <a:solidFill>
                  <a:srgbClr val="1A1A1A"/>
                </a:solidFill>
                <a:latin typeface="Lato"/>
                <a:ea typeface="Lato"/>
                <a:cs typeface="Lato"/>
              </a:rPr>
              <a:t>EPA TRI Basic Plus Form R records from 2020 to 2024, focused on U.S. manufacturing.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39450" y="3828108"/>
            <a:ext cx="7353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00" b="1" i="0" dirty="0">
                <a:solidFill>
                  <a:srgbClr val="1C3678"/>
                </a:solidFill>
                <a:latin typeface="Lato"/>
                <a:ea typeface="Lato"/>
                <a:cs typeface="Lato"/>
              </a:rPr>
              <a:t>Method:  </a:t>
            </a:r>
            <a:r>
              <a:rPr sz="1300" b="0" i="0" dirty="0">
                <a:solidFill>
                  <a:srgbClr val="1A1A1A"/>
                </a:solidFill>
                <a:latin typeface="Lato"/>
                <a:ea typeface="Lato"/>
                <a:cs typeface="Lato"/>
              </a:rPr>
              <a:t>Statistical tests plus an interpretable elastic-net logistic regression model.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0BAC22-6B60-1B31-C191-BF271B4730D1}"/>
              </a:ext>
            </a:extLst>
          </p:cNvPr>
          <p:cNvGrpSpPr/>
          <p:nvPr/>
        </p:nvGrpSpPr>
        <p:grpSpPr>
          <a:xfrm>
            <a:off x="729450" y="2117915"/>
            <a:ext cx="7963300" cy="2628776"/>
            <a:chOff x="729450" y="2117915"/>
            <a:chExt cx="7963300" cy="2628776"/>
          </a:xfrm>
        </p:grpSpPr>
        <p:sp>
          <p:nvSpPr>
            <p:cNvPr id="97" name="TextBox 96"/>
            <p:cNvSpPr txBox="1"/>
            <p:nvPr/>
          </p:nvSpPr>
          <p:spPr>
            <a:xfrm>
              <a:off x="1339450" y="2628693"/>
              <a:ext cx="73533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sz="1400" b="1" i="0" dirty="0">
                  <a:solidFill>
                    <a:srgbClr val="3D7398"/>
                  </a:solidFill>
                  <a:latin typeface="Lato"/>
                  <a:ea typeface="Lato"/>
                  <a:cs typeface="Lato"/>
                </a:rPr>
                <a:t>Business Problem:  </a:t>
              </a:r>
              <a:r>
                <a:rPr sz="1300" b="0" i="0" dirty="0">
                  <a:solidFill>
                    <a:srgbClr val="1A1A1A"/>
                  </a:solidFill>
                  <a:latin typeface="Lato"/>
                  <a:ea typeface="Lato"/>
                  <a:cs typeface="Lato"/>
                </a:rPr>
                <a:t>EHS teams need a practical way to know </a:t>
              </a:r>
              <a:r>
                <a:rPr sz="1300" b="0" i="0" dirty="0">
                  <a:solidFill>
                    <a:srgbClr val="1A1A1A"/>
                  </a:solidFill>
                  <a:latin typeface="+mn-lt"/>
                  <a:ea typeface="Lato"/>
                  <a:cs typeface="Lato"/>
                </a:rPr>
                <a:t>which </a:t>
              </a:r>
              <a:r>
                <a:rPr lang="en-US" sz="1300" b="1" dirty="0">
                  <a:latin typeface="+mn-lt"/>
                  <a:hlinkClick r:id="rId3"/>
                </a:rPr>
                <a:t>Environment Protection Agency (EPA)’s Toxic Release Inventory (</a:t>
              </a:r>
              <a:r>
                <a:rPr sz="1300" b="1" i="0" dirty="0">
                  <a:solidFill>
                    <a:srgbClr val="1A1A1A"/>
                  </a:solidFill>
                  <a:latin typeface="+mn-lt"/>
                  <a:ea typeface="Lato"/>
                  <a:cs typeface="Lato"/>
                  <a:hlinkClick r:id="rId3"/>
                </a:rPr>
                <a:t>TRI</a:t>
              </a:r>
              <a:r>
                <a:rPr lang="en-US" sz="1300" b="1" i="0" dirty="0">
                  <a:solidFill>
                    <a:srgbClr val="1A1A1A"/>
                  </a:solidFill>
                  <a:latin typeface="+mn-lt"/>
                  <a:ea typeface="Lato"/>
                  <a:cs typeface="Lato"/>
                </a:rPr>
                <a:t>)</a:t>
              </a:r>
              <a:r>
                <a:rPr sz="1300" b="0" i="0" dirty="0">
                  <a:solidFill>
                    <a:srgbClr val="1A1A1A"/>
                  </a:solidFill>
                  <a:latin typeface="+mn-lt"/>
                  <a:ea typeface="Lato"/>
                  <a:cs typeface="Lato"/>
                </a:rPr>
                <a:t> records deserve rev</a:t>
              </a:r>
              <a:r>
                <a:rPr sz="1300" b="0" i="0" dirty="0">
                  <a:solidFill>
                    <a:srgbClr val="1A1A1A"/>
                  </a:solidFill>
                  <a:latin typeface="Lato"/>
                  <a:ea typeface="Lato"/>
                  <a:cs typeface="Lato"/>
                </a:rPr>
                <a:t>iew first.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06CC0AA-E930-04A5-9520-50A9B6CD20E9}"/>
                </a:ext>
              </a:extLst>
            </p:cNvPr>
            <p:cNvGrpSpPr/>
            <p:nvPr/>
          </p:nvGrpSpPr>
          <p:grpSpPr>
            <a:xfrm>
              <a:off x="729450" y="2117915"/>
              <a:ext cx="430000" cy="2628776"/>
              <a:chOff x="729450" y="2178875"/>
              <a:chExt cx="430000" cy="2628776"/>
            </a:xfrm>
          </p:grpSpPr>
          <p:sp>
            <p:nvSpPr>
              <p:cNvPr id="94" name="Oval 93"/>
              <p:cNvSpPr/>
              <p:nvPr/>
            </p:nvSpPr>
            <p:spPr>
              <a:xfrm>
                <a:off x="729450" y="2178875"/>
                <a:ext cx="430000" cy="430000"/>
              </a:xfrm>
              <a:prstGeom prst="ellipse">
                <a:avLst/>
              </a:prstGeom>
              <a:solidFill>
                <a:srgbClr val="1A998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buNone/>
                </a:pPr>
                <a:r>
                  <a:rPr sz="1600" b="1" i="0" dirty="0">
                    <a:solidFill>
                      <a:srgbClr val="FFFFFF"/>
                    </a:solidFill>
                  </a:rPr>
                  <a:t>1</a:t>
                </a:r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729450" y="2728569"/>
                <a:ext cx="430000" cy="430000"/>
              </a:xfrm>
              <a:prstGeom prst="ellipse">
                <a:avLst/>
              </a:prstGeom>
              <a:solidFill>
                <a:srgbClr val="3D739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buNone/>
                </a:pPr>
                <a:r>
                  <a:rPr sz="1600" b="1" i="0" dirty="0">
                    <a:solidFill>
                      <a:srgbClr val="FFFFFF"/>
                    </a:solidFill>
                  </a:rPr>
                  <a:t>2</a:t>
                </a:r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729450" y="3278263"/>
                <a:ext cx="430000" cy="430000"/>
              </a:xfrm>
              <a:prstGeom prst="ellipse">
                <a:avLst/>
              </a:prstGeom>
              <a:solidFill>
                <a:srgbClr val="A67A0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buNone/>
                </a:pPr>
                <a:r>
                  <a:rPr sz="1600" b="1" i="0" dirty="0">
                    <a:solidFill>
                      <a:srgbClr val="FFFFFF"/>
                    </a:solidFill>
                  </a:rPr>
                  <a:t>3</a:t>
                </a:r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729450" y="3827957"/>
                <a:ext cx="430000" cy="430000"/>
              </a:xfrm>
              <a:prstGeom prst="ellipse">
                <a:avLst/>
              </a:prstGeom>
              <a:solidFill>
                <a:srgbClr val="1C367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buNone/>
                </a:pPr>
                <a:r>
                  <a:rPr sz="1600" b="1" i="0" dirty="0">
                    <a:solidFill>
                      <a:srgbClr val="FFFFFF"/>
                    </a:solidFill>
                  </a:rPr>
                  <a:t>4</a:t>
                </a:r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729450" y="4377651"/>
                <a:ext cx="430000" cy="430000"/>
              </a:xfrm>
              <a:prstGeom prst="ellipse">
                <a:avLst/>
              </a:prstGeom>
              <a:solidFill>
                <a:srgbClr val="1A998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buNone/>
                </a:pPr>
                <a:r>
                  <a:rPr sz="1600" b="1" i="0" dirty="0">
                    <a:solidFill>
                      <a:srgbClr val="FFFFFF"/>
                    </a:solidFill>
                  </a:rPr>
                  <a:t>5</a:t>
                </a:r>
              </a:p>
            </p:txBody>
          </p:sp>
        </p:grpSp>
      </p:grpSp>
      <p:sp>
        <p:nvSpPr>
          <p:cNvPr id="103" name="TextBox 102"/>
          <p:cNvSpPr txBox="1"/>
          <p:nvPr/>
        </p:nvSpPr>
        <p:spPr>
          <a:xfrm>
            <a:off x="1339450" y="4277775"/>
            <a:ext cx="73533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00" b="1" i="0" dirty="0">
                <a:solidFill>
                  <a:srgbClr val="1A9988"/>
                </a:solidFill>
                <a:latin typeface="Lato"/>
                <a:ea typeface="Lato"/>
                <a:cs typeface="Lato"/>
              </a:rPr>
              <a:t>Main Takeaway:  </a:t>
            </a:r>
            <a:r>
              <a:rPr sz="1300" b="0" i="0" dirty="0">
                <a:solidFill>
                  <a:srgbClr val="1A1A1A"/>
                </a:solidFill>
                <a:latin typeface="Lato"/>
                <a:ea typeface="Lato"/>
                <a:cs typeface="Lato"/>
              </a:rPr>
              <a:t>Reported actions are useful but modest signals; the model should support human review, not replace experts.</a:t>
            </a:r>
          </a:p>
        </p:txBody>
      </p:sp>
    </p:spTree>
    <p:extLst>
      <p:ext uri="{BB962C8B-B14F-4D97-AF65-F5344CB8AC3E}">
        <p14:creationId xmlns:p14="http://schemas.microsoft.com/office/powerpoint/2010/main" val="3152614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Gap Analysis</a:t>
            </a:r>
            <a:endParaRPr dirty="0"/>
          </a:p>
        </p:txBody>
      </p:sp>
      <p:sp>
        <p:nvSpPr>
          <p:cNvPr id="100" name="Rounded Rectangle 99"/>
          <p:cNvSpPr/>
          <p:nvPr/>
        </p:nvSpPr>
        <p:spPr>
          <a:xfrm>
            <a:off x="729450" y="2098875"/>
            <a:ext cx="1690000" cy="620000"/>
          </a:xfrm>
          <a:prstGeom prst="roundRect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</a:rPr>
              <a:t>TRI filings
exist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2434450" y="2333875"/>
            <a:ext cx="180000" cy="15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2599450" y="2098875"/>
            <a:ext cx="1690000" cy="620000"/>
          </a:xfrm>
          <a:prstGeom prst="roundRect">
            <a:avLst/>
          </a:prstGeom>
          <a:solidFill>
            <a:srgbClr val="6AA4C8"/>
          </a:solidFill>
          <a:ln>
            <a:solidFill>
              <a:srgbClr val="6AA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</a:rPr>
              <a:t>EHS teams need
prioritization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4304450" y="2333875"/>
            <a:ext cx="180000" cy="15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469450" y="2098875"/>
            <a:ext cx="1690000" cy="620000"/>
          </a:xfrm>
          <a:prstGeom prst="roundRect">
            <a:avLst/>
          </a:prstGeom>
          <a:solidFill>
            <a:srgbClr val="A67A0A"/>
          </a:solidFill>
          <a:ln>
            <a:solidFill>
              <a:srgbClr val="A67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50" b="1" i="0" dirty="0">
                <a:solidFill>
                  <a:srgbClr val="FFFFFF"/>
                </a:solidFill>
              </a:rPr>
              <a:t>Raw before/after
is misleading</a:t>
            </a:r>
          </a:p>
        </p:txBody>
      </p:sp>
      <p:sp>
        <p:nvSpPr>
          <p:cNvPr id="105" name="Right Arrow 104"/>
          <p:cNvSpPr/>
          <p:nvPr/>
        </p:nvSpPr>
        <p:spPr>
          <a:xfrm>
            <a:off x="6174450" y="2333875"/>
            <a:ext cx="180000" cy="15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6339450" y="2098875"/>
            <a:ext cx="1690000" cy="620000"/>
          </a:xfrm>
          <a:prstGeom prst="roundRect">
            <a:avLst/>
          </a:prstGeom>
          <a:solidFill>
            <a:srgbClr val="1A9988"/>
          </a:solidFill>
          <a:ln>
            <a:solidFill>
              <a:srgbClr val="1A9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</a:rPr>
              <a:t>This project builds an
adjusted framework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29450" y="2848875"/>
            <a:ext cx="3750000" cy="2159000"/>
          </a:xfrm>
          <a:prstGeom prst="roundRect">
            <a:avLst/>
          </a:prstGeom>
          <a:solidFill>
            <a:srgbClr val="E9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14300" rIns="152400" bIns="114300" rtlCol="0" anchor="t"/>
          <a:lstStyle/>
          <a:p>
            <a:pPr algn="ctr">
              <a:buNone/>
            </a:pPr>
            <a:r>
              <a:rPr sz="1350" b="1" i="0" dirty="0">
                <a:solidFill>
                  <a:srgbClr val="1C3678"/>
                </a:solidFill>
              </a:rPr>
              <a:t>What Prior Research Established</a:t>
            </a:r>
          </a:p>
          <a:p>
            <a:pPr marL="182880" indent="-182880">
              <a:spcBef>
                <a:spcPts val="700"/>
              </a:spcBef>
              <a:buClr>
                <a:srgbClr val="1C3678"/>
              </a:buClr>
              <a:buSzPct val="55000"/>
              <a:buFont typeface="Arial"/>
              <a:buChar char="●"/>
            </a:pPr>
            <a:r>
              <a:rPr sz="1050" b="0" i="0" dirty="0">
                <a:solidFill>
                  <a:srgbClr val="1A1A1A"/>
                </a:solidFill>
              </a:rPr>
              <a:t>Public disclosure changes behavior and moves markets (Hamilton, 1995; Konar &amp; Cohen, 1997).</a:t>
            </a:r>
          </a:p>
          <a:p>
            <a:pPr marL="182880" indent="-182880">
              <a:spcBef>
                <a:spcPts val="700"/>
              </a:spcBef>
              <a:buClr>
                <a:srgbClr val="1C3678"/>
              </a:buClr>
              <a:buSzPct val="55000"/>
              <a:buFont typeface="Arial"/>
              <a:buChar char="●"/>
            </a:pPr>
            <a:r>
              <a:rPr sz="1050" b="0" i="0" dirty="0">
                <a:solidFill>
                  <a:srgbClr val="1A1A1A"/>
                </a:solidFill>
              </a:rPr>
              <a:t>Some of the apparent national decline reflects reporting change, not real abatement (Gamper-Rabindran, 2006).</a:t>
            </a:r>
          </a:p>
          <a:p>
            <a:pPr marL="182880" indent="-182880">
              <a:spcBef>
                <a:spcPts val="700"/>
              </a:spcBef>
              <a:buClr>
                <a:srgbClr val="1C3678"/>
              </a:buClr>
              <a:buSzPct val="55000"/>
              <a:buFont typeface="Arial"/>
              <a:buChar char="●"/>
            </a:pPr>
            <a:r>
              <a:rPr sz="1050" b="0" i="0" dirty="0">
                <a:solidFill>
                  <a:srgbClr val="1A1A1A"/>
                </a:solidFill>
              </a:rPr>
              <a:t>Prevention is not one undifferentiated thing; the profitable part is preventing waste, not treating it (King &amp; Lenox, 2002; Cagno et al., 2005).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668150" y="2848875"/>
            <a:ext cx="3750000" cy="2159000"/>
          </a:xfrm>
          <a:prstGeom prst="roundRect">
            <a:avLst/>
          </a:prstGeom>
          <a:solidFill>
            <a:srgbClr val="E9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14300" rIns="152400" bIns="114300" rtlCol="0" anchor="t"/>
          <a:lstStyle/>
          <a:p>
            <a:pPr algn="ctr">
              <a:buNone/>
            </a:pPr>
            <a:r>
              <a:rPr sz="1350" b="1" i="0" dirty="0">
                <a:solidFill>
                  <a:srgbClr val="A67A0A"/>
                </a:solidFill>
              </a:rPr>
              <a:t>The Gap This Project Fills</a:t>
            </a:r>
          </a:p>
          <a:p>
            <a:pPr marL="182880" indent="-182880">
              <a:spcBef>
                <a:spcPts val="450"/>
              </a:spcBef>
              <a:buClr>
                <a:srgbClr val="A67A0A"/>
              </a:buClr>
              <a:buSzPct val="55000"/>
              <a:buFont typeface="Arial"/>
              <a:buChar char="●"/>
            </a:pPr>
            <a:r>
              <a:rPr sz="1050" b="0" i="0" dirty="0">
                <a:solidFill>
                  <a:srgbClr val="1A1A1A"/>
                </a:solidFill>
              </a:rPr>
              <a:t>Prior work asks broader questions (disclosure effects, long-run emissions); it does not give EHS teams a ready-to-use screening tool.</a:t>
            </a:r>
          </a:p>
          <a:p>
            <a:pPr marL="182880" indent="-182880">
              <a:spcBef>
                <a:spcPts val="450"/>
              </a:spcBef>
              <a:buClr>
                <a:srgbClr val="A67A0A"/>
              </a:buClr>
              <a:buSzPct val="55000"/>
              <a:buFont typeface="Arial"/>
              <a:buChar char="●"/>
            </a:pPr>
            <a:r>
              <a:rPr sz="1050" b="0" i="0" dirty="0">
                <a:solidFill>
                  <a:srgbClr val="1A1A1A"/>
                </a:solidFill>
              </a:rPr>
              <a:t>This project is narrower and current: 2020 to 2024 facility-chemical-year records only.</a:t>
            </a:r>
          </a:p>
          <a:p>
            <a:pPr marL="182880" indent="-182880">
              <a:spcBef>
                <a:spcPts val="450"/>
              </a:spcBef>
              <a:buClr>
                <a:srgbClr val="A67A0A"/>
              </a:buClr>
              <a:buSzPct val="55000"/>
              <a:buFont typeface="Arial"/>
              <a:buChar char="●"/>
            </a:pPr>
            <a:r>
              <a:rPr sz="1050" b="0" i="0" dirty="0">
                <a:solidFill>
                  <a:srgbClr val="1A1A1A"/>
                </a:solidFill>
              </a:rPr>
              <a:t>It defines one clear, testable outcome: next-year release no more than 90% of current-year release.</a:t>
            </a:r>
          </a:p>
          <a:p>
            <a:pPr marL="182880" indent="-182880">
              <a:spcBef>
                <a:spcPts val="450"/>
              </a:spcBef>
              <a:buClr>
                <a:srgbClr val="A67A0A"/>
              </a:buClr>
              <a:buSzPct val="55000"/>
              <a:buFont typeface="Arial"/>
              <a:buChar char="●"/>
            </a:pPr>
            <a:r>
              <a:rPr sz="1050" b="0" i="0" dirty="0">
                <a:solidFill>
                  <a:srgbClr val="1A1A1A"/>
                </a:solidFill>
              </a:rPr>
              <a:t>It is an association and screening study, not a causal claim.</a:t>
            </a:r>
          </a:p>
        </p:txBody>
      </p:sp>
    </p:spTree>
    <p:extLst>
      <p:ext uri="{BB962C8B-B14F-4D97-AF65-F5344CB8AC3E}">
        <p14:creationId xmlns:p14="http://schemas.microsoft.com/office/powerpoint/2010/main" val="1020693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</a:t>
            </a:r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727650" y="2090875"/>
            <a:ext cx="7688700" cy="300000"/>
          </a:xfrm>
          <a:prstGeom prst="round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" rIns="109728" bIns="9144" rtlCol="0" anchor="ctr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</a:rPr>
              <a:t>RQ1:  </a:t>
            </a:r>
            <a:r>
              <a:rPr sz="1050" b="0" i="1">
                <a:solidFill>
                  <a:srgbClr val="FFFFFF"/>
                </a:solidFill>
              </a:rPr>
              <a:t>Do reduction rates differ by action year and manufacturing subsector?</a:t>
            </a:r>
          </a:p>
        </p:txBody>
      </p:sp>
      <p:graphicFrame>
        <p:nvGraphicFramePr>
          <p:cNvPr id="107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039644"/>
              </p:ext>
            </p:extLst>
          </p:nvPr>
        </p:nvGraphicFramePr>
        <p:xfrm>
          <a:off x="729450" y="2390875"/>
          <a:ext cx="7688700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Hypotheses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50" b="1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H0: </a:t>
                      </a:r>
                      <a:r>
                        <a:rPr sz="85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Reduction is independent of action year and of subsector.   </a:t>
                      </a:r>
                      <a:r>
                        <a:rPr sz="850" b="1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Ha: </a:t>
                      </a:r>
                      <a:r>
                        <a:rPr sz="85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Reduction rates differ across years and across subsectors.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Method  &amp;  Why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50" b="1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Chi-square test, Cramer's V:  </a:t>
                      </a:r>
                      <a:r>
                        <a:rPr sz="850" b="0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the predictor is categorical and the sample is large; Cramer's V checks whether a significant effect is actually large enough to act 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50" b="0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Both nulls rejected. Rates rise 27.5% to 31.1% to 35.9% across year transitions (p &lt; .001, V = 0.073); rates span about 15 points across subsectors, 25.9% to 41.3% (p &lt; .001, V = 0.048). Effects are real but small; year and subsector must be controlled downstream.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8" name="Rounded Rectangle 107"/>
          <p:cNvSpPr/>
          <p:nvPr/>
        </p:nvSpPr>
        <p:spPr>
          <a:xfrm>
            <a:off x="729450" y="3503291"/>
            <a:ext cx="7688700" cy="300000"/>
          </a:xfrm>
          <a:prstGeom prst="roundRect">
            <a:avLst/>
          </a:prstGeom>
          <a:solidFill>
            <a:srgbClr val="6AA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" rIns="109728" bIns="9144" rtlCol="0" anchor="ctr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</a:rPr>
              <a:t>RQ2:  </a:t>
            </a:r>
            <a:r>
              <a:rPr sz="1050" b="0" i="1">
                <a:solidFill>
                  <a:srgbClr val="FFFFFF"/>
                </a:solidFill>
              </a:rPr>
              <a:t>Is reporting any action associated with next-year reduction, after adjustment?</a:t>
            </a:r>
          </a:p>
        </p:txBody>
      </p:sp>
      <p:graphicFrame>
        <p:nvGraphicFramePr>
          <p:cNvPr id="109" name="Table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238605"/>
              </p:ext>
            </p:extLst>
          </p:nvPr>
        </p:nvGraphicFramePr>
        <p:xfrm>
          <a:off x="729450" y="3815291"/>
          <a:ext cx="7688700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6AA4C8"/>
                          </a:solidFill>
                          <a:latin typeface="Lato"/>
                          <a:ea typeface="Lato"/>
                          <a:cs typeface="Lato"/>
                        </a:rPr>
                        <a:t>Hypotheses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50" b="1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H0: </a:t>
                      </a:r>
                      <a:r>
                        <a:rPr sz="85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The adjusted odds ratio for reporting any action equals 1.   </a:t>
                      </a:r>
                      <a:r>
                        <a:rPr sz="850" b="1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Ha: </a:t>
                      </a:r>
                      <a:r>
                        <a:rPr sz="85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The adjusted odds ratio differs from 1.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6AA4C8"/>
                          </a:solidFill>
                          <a:latin typeface="Lato"/>
                          <a:ea typeface="Lato"/>
                          <a:cs typeface="Lato"/>
                        </a:rPr>
                        <a:t>Method  &amp;  Why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50" b="1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Facility-clustered logistic regression:  </a:t>
                      </a:r>
                      <a:r>
                        <a:rPr sz="85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outcome is binary so coefficients convert into odds ratios; clustering is required because one facility contributes multiple records, so observations are not independent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6AA4C8"/>
                          </a:solidFill>
                          <a:latin typeface="Lato"/>
                          <a:ea typeface="Lato"/>
                          <a:cs typeface="Lato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50" b="0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Null rejected. Adjusted odds ratio = 1.14, 95% CI 1.06 to 1.23, p &lt; .001. A reported action raises the odds of a meaningful reduction by about 14%, net of confounders. Model diagnostics are clean (max VIF about 2).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ectionPager">
            <a:extLst>
              <a:ext uri="{FF2B5EF4-FFF2-40B4-BE49-F238E27FC236}">
                <a16:creationId xmlns:a16="http://schemas.microsoft.com/office/drawing/2014/main" id="{505FA3D2-8860-4595-BBD4-250BD2A501E0}"/>
              </a:ext>
            </a:extLst>
          </p:cNvPr>
          <p:cNvSpPr txBox="1"/>
          <p:nvPr/>
        </p:nvSpPr>
        <p:spPr>
          <a:xfrm>
            <a:off x="6893559" y="1511300"/>
            <a:ext cx="15240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100">
                <a:solidFill>
                  <a:srgbClr val="767676"/>
                </a:solidFill>
                <a:latin typeface="Lato"/>
                <a:ea typeface="Lato"/>
                <a:cs typeface="Lato"/>
              </a:rPr>
              <a:t>1 of 2</a:t>
            </a:r>
          </a:p>
        </p:txBody>
      </p:sp>
    </p:spTree>
    <p:extLst>
      <p:ext uri="{BB962C8B-B14F-4D97-AF65-F5344CB8AC3E}">
        <p14:creationId xmlns:p14="http://schemas.microsoft.com/office/powerpoint/2010/main" val="3200750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i="0"/>
              <a:t>Research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9450" y="2078875"/>
            <a:ext cx="7688700" cy="300000"/>
          </a:xfrm>
          <a:prstGeom prst="roundRect">
            <a:avLst/>
          </a:prstGeom>
          <a:solidFill>
            <a:srgbClr val="A6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" rIns="109728" bIns="9144" rtlCol="0" anchor="ctr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</a:rPr>
              <a:t>RQ3:  </a:t>
            </a:r>
            <a:r>
              <a:rPr sz="1050" b="0" i="1">
                <a:solidFill>
                  <a:srgbClr val="FFFFFF"/>
                </a:solidFill>
              </a:rPr>
              <a:t>Do reduction rates differ between each action type and no-action records?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9450" y="2390875"/>
          <a:ext cx="76886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9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 i="0" dirty="0">
                          <a:solidFill>
                            <a:srgbClr val="A67A0A"/>
                          </a:solidFill>
                          <a:latin typeface="Lato"/>
                          <a:ea typeface="Lato"/>
                          <a:cs typeface="Lato"/>
                        </a:rPr>
                        <a:t>Hypotheses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50" b="1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H0: </a:t>
                      </a:r>
                      <a:r>
                        <a:rPr sz="850" b="0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For each action type, the reduction rate equals the no-action rate.   </a:t>
                      </a:r>
                      <a:r>
                        <a:rPr sz="850" b="1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Ha: </a:t>
                      </a:r>
                      <a:r>
                        <a:rPr sz="850" b="0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At least one action type differs from the no-action group after Holm correction.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A67A0A"/>
                          </a:solidFill>
                          <a:latin typeface="Lato"/>
                          <a:ea typeface="Lato"/>
                          <a:cs typeface="Lato"/>
                        </a:rPr>
                        <a:t>Method  &amp;  Why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50" b="1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Holm-corrected pairwise comparisons:  </a:t>
                      </a:r>
                      <a:r>
                        <a:rPr sz="850" b="0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five action types are each compared against one shared no-action group; Holm's correction controls family-wise error with more power than Bonferroni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A67A0A"/>
                          </a:solidFill>
                          <a:latin typeface="Lato"/>
                          <a:ea typeface="Lato"/>
                          <a:cs typeface="Lato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50" b="0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Two of five nulls rejected. Material modification: 39.0% rate, +7.6 points, Holm p &lt; .001. Operating practice/training: 35.5% rate, +4.2 points, Holm p &lt; .001. The other three action types did not survive correction.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29450" y="3503291"/>
            <a:ext cx="7688700" cy="300000"/>
          </a:xfrm>
          <a:prstGeom prst="roundRect">
            <a:avLst/>
          </a:prstGeom>
          <a:solidFill>
            <a:srgbClr val="1C3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" rIns="109728" bIns="9144" rtlCol="0" anchor="ctr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</a:rPr>
              <a:t>RQ4:  </a:t>
            </a:r>
            <a:r>
              <a:rPr sz="1050" b="0" i="1">
                <a:solidFill>
                  <a:srgbClr val="FFFFFF"/>
                </a:solidFill>
              </a:rPr>
              <a:t>Can an interpretable model predict non-reduction better than chance and a baseline?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9450" y="3815291"/>
          <a:ext cx="7688700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1C3678"/>
                          </a:solidFill>
                          <a:latin typeface="Lato"/>
                          <a:ea typeface="Lato"/>
                          <a:cs typeface="Lato"/>
                        </a:rPr>
                        <a:t>Hypotheses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50" b="1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H0: </a:t>
                      </a:r>
                      <a:r>
                        <a:rPr sz="850" b="0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The model's holdout AUC equals 0.5 (chance) and does not exceed the baseline.   </a:t>
                      </a:r>
                      <a:r>
                        <a:rPr sz="850" b="1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Ha: </a:t>
                      </a:r>
                      <a:r>
                        <a:rPr sz="850" b="0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The model exceeds chance and the baseline on the sealed holdout.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1C3678"/>
                          </a:solidFill>
                          <a:latin typeface="Lato"/>
                          <a:ea typeface="Lato"/>
                          <a:cs typeface="Lato"/>
                        </a:rPr>
                        <a:t>Method  &amp;  Why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50" b="1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Elastic-net penalized logistic regression:  </a:t>
                      </a:r>
                      <a:r>
                        <a:rPr sz="850" b="0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stays interpretable, handles correlated predictors such as 15 subsectors and 5 action types, and avoids overfitting; evaluated once on a sealed 2023-2024 holdout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 i="0">
                          <a:solidFill>
                            <a:srgbClr val="1C3678"/>
                          </a:solidFill>
                          <a:latin typeface="Lato"/>
                          <a:ea typeface="Lato"/>
                          <a:cs typeface="Lato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50" b="0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Null rejected. Holdout AUC = 0.523, 95% CI 0.515 to 0.532, vs baseline 0.502. The model beats chance and the baseline, but the margin is small, useful for triage, not automation.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SectionPager">
            <a:extLst>
              <a:ext uri="{FF2B5EF4-FFF2-40B4-BE49-F238E27FC236}">
                <a16:creationId xmlns:a16="http://schemas.microsoft.com/office/drawing/2014/main" id="{7F50ED04-2509-497F-A22A-C2A7A0948A25}"/>
              </a:ext>
            </a:extLst>
          </p:cNvPr>
          <p:cNvSpPr txBox="1"/>
          <p:nvPr/>
        </p:nvSpPr>
        <p:spPr>
          <a:xfrm>
            <a:off x="6893559" y="1511300"/>
            <a:ext cx="15240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100">
                <a:solidFill>
                  <a:srgbClr val="767676"/>
                </a:solidFill>
                <a:latin typeface="Lato"/>
                <a:ea typeface="Lato"/>
                <a:cs typeface="Lato"/>
              </a:rPr>
              <a:t>2 of 2</a:t>
            </a:r>
          </a:p>
        </p:txBody>
      </p:sp>
    </p:spTree>
    <p:extLst>
      <p:ext uri="{BB962C8B-B14F-4D97-AF65-F5344CB8AC3E}">
        <p14:creationId xmlns:p14="http://schemas.microsoft.com/office/powerpoint/2010/main" val="937219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Description and EDA</a:t>
            </a:r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729450" y="2078875"/>
            <a:ext cx="1470000" cy="820000"/>
          </a:xfrm>
          <a:prstGeom prst="roundRect">
            <a:avLst/>
          </a:prstGeom>
          <a:solidFill>
            <a:srgbClr val="E9EDEE"/>
          </a:solidFill>
          <a:ln w="15875">
            <a:solidFill>
              <a:srgbClr val="1A9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sz="2000" b="1" i="0">
                <a:solidFill>
                  <a:srgbClr val="1A9988"/>
                </a:solidFill>
              </a:rPr>
              <a:t>123,535</a:t>
            </a:r>
          </a:p>
          <a:p>
            <a:pPr algn="ctr">
              <a:buNone/>
            </a:pPr>
            <a:r>
              <a:rPr sz="900" b="0" i="0">
                <a:solidFill>
                  <a:srgbClr val="1A1A1A"/>
                </a:solidFill>
              </a:rPr>
              <a:t>Development records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265450" y="2078875"/>
            <a:ext cx="1470000" cy="820000"/>
          </a:xfrm>
          <a:prstGeom prst="roundRect">
            <a:avLst/>
          </a:prstGeom>
          <a:solidFill>
            <a:srgbClr val="E9EDEE"/>
          </a:solidFill>
          <a:ln w="15875">
            <a:solidFill>
              <a:srgbClr val="6AA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sz="2000" b="1" i="0">
                <a:solidFill>
                  <a:srgbClr val="6AA4C8"/>
                </a:solidFill>
              </a:rPr>
              <a:t>39,966</a:t>
            </a:r>
          </a:p>
          <a:p>
            <a:pPr algn="ctr">
              <a:buNone/>
            </a:pPr>
            <a:r>
              <a:rPr sz="900" b="0" i="0">
                <a:solidFill>
                  <a:srgbClr val="1A1A1A"/>
                </a:solidFill>
              </a:rPr>
              <a:t>Reserved holdout records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801450" y="2078875"/>
            <a:ext cx="1470000" cy="820000"/>
          </a:xfrm>
          <a:prstGeom prst="roundRect">
            <a:avLst/>
          </a:prstGeom>
          <a:solidFill>
            <a:srgbClr val="E9EDEE"/>
          </a:solidFill>
          <a:ln w="15875">
            <a:solidFill>
              <a:srgbClr val="A67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sz="2000" b="1" i="0">
                <a:solidFill>
                  <a:srgbClr val="A67A0A"/>
                </a:solidFill>
              </a:rPr>
              <a:t>14,851</a:t>
            </a:r>
          </a:p>
          <a:p>
            <a:pPr algn="ctr">
              <a:buNone/>
            </a:pPr>
            <a:r>
              <a:rPr sz="900" b="0" i="0">
                <a:solidFill>
                  <a:srgbClr val="1A1A1A"/>
                </a:solidFill>
              </a:rPr>
              <a:t>Facilities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337450" y="2078875"/>
            <a:ext cx="1470000" cy="820000"/>
          </a:xfrm>
          <a:prstGeom prst="roundRect">
            <a:avLst/>
          </a:prstGeom>
          <a:solidFill>
            <a:srgbClr val="E9EDEE"/>
          </a:solidFill>
          <a:ln w="15875">
            <a:solidFill>
              <a:srgbClr val="1C3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sz="2000" b="1" i="0">
                <a:solidFill>
                  <a:srgbClr val="1C3678"/>
                </a:solidFill>
              </a:rPr>
              <a:t>31.5%</a:t>
            </a:r>
          </a:p>
          <a:p>
            <a:pPr algn="ctr">
              <a:buNone/>
            </a:pPr>
            <a:r>
              <a:rPr sz="900" b="0" i="0">
                <a:solidFill>
                  <a:srgbClr val="1A1A1A"/>
                </a:solidFill>
              </a:rPr>
              <a:t>Meaningful reduction rate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873450" y="2078875"/>
            <a:ext cx="1470000" cy="820000"/>
          </a:xfrm>
          <a:prstGeom prst="roundRect">
            <a:avLst/>
          </a:prstGeom>
          <a:solidFill>
            <a:srgbClr val="E9EDEE"/>
          </a:solidFill>
          <a:ln w="15875">
            <a:solidFill>
              <a:srgbClr val="1A9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sz="2000" b="1" i="0">
                <a:solidFill>
                  <a:srgbClr val="1A9988"/>
                </a:solidFill>
              </a:rPr>
              <a:t>4.9%</a:t>
            </a:r>
          </a:p>
          <a:p>
            <a:pPr algn="ctr">
              <a:buNone/>
            </a:pPr>
            <a:r>
              <a:rPr sz="900" b="0" i="0">
                <a:solidFill>
                  <a:srgbClr val="1A1A1A"/>
                </a:solidFill>
              </a:rPr>
              <a:t>Reported action rate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29450" y="2958875"/>
            <a:ext cx="76887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050" b="0" i="1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Source: </a:t>
            </a:r>
            <a:r>
              <a:rPr lang="en-US" sz="1050" b="0" i="1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Environment Protection Agency (EPA’s) Toxic Release Inventory </a:t>
            </a:r>
            <a:r>
              <a:rPr sz="1050" b="0" i="1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Basic Plus Form R filings, 2020 to 2024, U.S. manufacturing only.</a:t>
            </a:r>
          </a:p>
        </p:txBody>
      </p:sp>
      <p:graphicFrame>
        <p:nvGraphicFramePr>
          <p:cNvPr id="118" name="Chart 117"/>
          <p:cNvGraphicFramePr>
            <a:graphicFrameLocks noGrp="1"/>
          </p:cNvGraphicFramePr>
          <p:nvPr/>
        </p:nvGraphicFramePr>
        <p:xfrm>
          <a:off x="729450" y="3198875"/>
          <a:ext cx="3700000" cy="12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9" name="Chart 118"/>
          <p:cNvGraphicFramePr>
            <a:graphicFrameLocks noGrp="1"/>
          </p:cNvGraphicFramePr>
          <p:nvPr/>
        </p:nvGraphicFramePr>
        <p:xfrm>
          <a:off x="4718150" y="3198875"/>
          <a:ext cx="3700000" cy="12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0" name="TextBox 119"/>
          <p:cNvSpPr txBox="1"/>
          <p:nvPr/>
        </p:nvSpPr>
        <p:spPr>
          <a:xfrm>
            <a:off x="729450" y="4468875"/>
            <a:ext cx="76887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150" b="1" i="0" dirty="0">
                <a:solidFill>
                  <a:srgbClr val="1C3678"/>
                </a:solidFill>
                <a:latin typeface="Lato"/>
                <a:ea typeface="Lato"/>
                <a:cs typeface="Lato"/>
              </a:rPr>
              <a:t>Takeaway:  </a:t>
            </a:r>
            <a:r>
              <a:rPr sz="1150" b="0" i="1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the outcome is learnable, but reported actions are rare, so the analysis needs careful, adjusted inference.</a:t>
            </a:r>
          </a:p>
        </p:txBody>
      </p:sp>
    </p:spTree>
    <p:extLst>
      <p:ext uri="{BB962C8B-B14F-4D97-AF65-F5344CB8AC3E}">
        <p14:creationId xmlns:p14="http://schemas.microsoft.com/office/powerpoint/2010/main" val="1919700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diagram/Workflow</a:t>
            </a:r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729450" y="2118875"/>
            <a:ext cx="1330000" cy="720000"/>
          </a:xfrm>
          <a:prstGeom prst="roundRect">
            <a:avLst/>
          </a:prstGeom>
          <a:solidFill>
            <a:srgbClr val="1A9988"/>
          </a:solidFill>
          <a:ln>
            <a:solidFill>
              <a:srgbClr val="1A9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00" b="1" i="0" dirty="0">
                <a:solidFill>
                  <a:srgbClr val="FFFFFF"/>
                </a:solidFill>
              </a:rPr>
              <a:t>EPA TRI
files</a:t>
            </a:r>
          </a:p>
        </p:txBody>
      </p:sp>
      <p:sp>
        <p:nvSpPr>
          <p:cNvPr id="119" name="Right Arrow 118"/>
          <p:cNvSpPr/>
          <p:nvPr/>
        </p:nvSpPr>
        <p:spPr>
          <a:xfrm>
            <a:off x="2079450" y="2398875"/>
            <a:ext cx="19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2249450" y="2118875"/>
            <a:ext cx="1330000" cy="720000"/>
          </a:xfrm>
          <a:prstGeom prst="roundRect">
            <a:avLst/>
          </a:prstGeom>
          <a:solidFill>
            <a:srgbClr val="1A9988"/>
          </a:solidFill>
          <a:ln>
            <a:solidFill>
              <a:srgbClr val="1A9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</a:rPr>
              <a:t>Clean and join
Form 1A/2A</a:t>
            </a:r>
          </a:p>
        </p:txBody>
      </p:sp>
      <p:sp>
        <p:nvSpPr>
          <p:cNvPr id="121" name="Right Arrow 120"/>
          <p:cNvSpPr/>
          <p:nvPr/>
        </p:nvSpPr>
        <p:spPr>
          <a:xfrm>
            <a:off x="3599450" y="2398875"/>
            <a:ext cx="19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3769450" y="2118875"/>
            <a:ext cx="1330000" cy="720000"/>
          </a:xfrm>
          <a:prstGeom prst="roundRect">
            <a:avLst/>
          </a:prstGeom>
          <a:solidFill>
            <a:srgbClr val="1A9988"/>
          </a:solidFill>
          <a:ln>
            <a:solidFill>
              <a:srgbClr val="1A9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</a:rPr>
              <a:t>Facility-chemical-
year dataset</a:t>
            </a:r>
          </a:p>
        </p:txBody>
      </p:sp>
      <p:sp>
        <p:nvSpPr>
          <p:cNvPr id="123" name="Right Arrow 122"/>
          <p:cNvSpPr/>
          <p:nvPr/>
        </p:nvSpPr>
        <p:spPr>
          <a:xfrm>
            <a:off x="5119450" y="2398875"/>
            <a:ext cx="19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5289450" y="2118875"/>
            <a:ext cx="1330000" cy="720000"/>
          </a:xfrm>
          <a:prstGeom prst="roundRect">
            <a:avLst/>
          </a:prstGeom>
          <a:solidFill>
            <a:srgbClr val="1A9988"/>
          </a:solidFill>
          <a:ln>
            <a:solidFill>
              <a:srgbClr val="1A9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</a:rPr>
              <a:t>Build next-year
outcome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6639450" y="2398875"/>
            <a:ext cx="19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6809450" y="2118875"/>
            <a:ext cx="1330000" cy="720000"/>
          </a:xfrm>
          <a:prstGeom prst="roundRect">
            <a:avLst/>
          </a:prstGeom>
          <a:solidFill>
            <a:srgbClr val="6AA4C8"/>
          </a:solidFill>
          <a:ln>
            <a:solidFill>
              <a:srgbClr val="6AA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127" name="Down Arrow 126"/>
          <p:cNvSpPr/>
          <p:nvPr/>
        </p:nvSpPr>
        <p:spPr>
          <a:xfrm>
            <a:off x="7394450" y="2868875"/>
            <a:ext cx="160000" cy="20000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2249450" y="3218875"/>
            <a:ext cx="1330000" cy="720000"/>
          </a:xfrm>
          <a:prstGeom prst="roundRect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</a:rPr>
              <a:t>Ranked EHS
review list</a:t>
            </a:r>
          </a:p>
        </p:txBody>
      </p:sp>
      <p:sp>
        <p:nvSpPr>
          <p:cNvPr id="129" name="Right Arrow 128"/>
          <p:cNvSpPr/>
          <p:nvPr/>
        </p:nvSpPr>
        <p:spPr>
          <a:xfrm rot="10800000">
            <a:off x="3599450" y="3498875"/>
            <a:ext cx="19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3769450" y="3218875"/>
            <a:ext cx="1330000" cy="720000"/>
          </a:xfrm>
          <a:prstGeom prst="roundRect">
            <a:avLst/>
          </a:prstGeom>
          <a:solidFill>
            <a:srgbClr val="1C3678"/>
          </a:solidFill>
          <a:ln>
            <a:solidFill>
              <a:srgbClr val="1C3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</a:rPr>
              <a:t>Sealed 2023-2024
holdout</a:t>
            </a:r>
          </a:p>
        </p:txBody>
      </p:sp>
      <p:sp>
        <p:nvSpPr>
          <p:cNvPr id="131" name="Right Arrow 130"/>
          <p:cNvSpPr/>
          <p:nvPr/>
        </p:nvSpPr>
        <p:spPr>
          <a:xfrm rot="10800000">
            <a:off x="5119450" y="3498875"/>
            <a:ext cx="19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ounded Rectangle 131"/>
          <p:cNvSpPr/>
          <p:nvPr/>
        </p:nvSpPr>
        <p:spPr>
          <a:xfrm>
            <a:off x="5289450" y="3218875"/>
            <a:ext cx="1330000" cy="720000"/>
          </a:xfrm>
          <a:prstGeom prst="roundRect">
            <a:avLst/>
          </a:prstGeom>
          <a:solidFill>
            <a:srgbClr val="1C3678"/>
          </a:solidFill>
          <a:ln>
            <a:solidFill>
              <a:srgbClr val="1C3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</a:rPr>
              <a:t>RQ4 elastic-net
model</a:t>
            </a:r>
          </a:p>
        </p:txBody>
      </p:sp>
      <p:sp>
        <p:nvSpPr>
          <p:cNvPr id="133" name="Right Arrow 132"/>
          <p:cNvSpPr/>
          <p:nvPr/>
        </p:nvSpPr>
        <p:spPr>
          <a:xfrm rot="10800000">
            <a:off x="6639450" y="3498875"/>
            <a:ext cx="19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6809450" y="3218875"/>
            <a:ext cx="1330000" cy="720000"/>
          </a:xfrm>
          <a:prstGeom prst="roundRect">
            <a:avLst/>
          </a:prstGeom>
          <a:solidFill>
            <a:srgbClr val="A67A0A"/>
          </a:solidFill>
          <a:ln>
            <a:solidFill>
              <a:srgbClr val="A67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00" b="1" i="0">
                <a:solidFill>
                  <a:srgbClr val="FFFFFF"/>
                </a:solidFill>
              </a:rPr>
              <a:t>RQ1-RQ3
statistical tests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29450" y="4048875"/>
            <a:ext cx="140000" cy="140000"/>
          </a:xfrm>
          <a:prstGeom prst="roundRect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14450" y="3993875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9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Data ingestion &amp; prep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289450" y="4048875"/>
            <a:ext cx="140000" cy="140000"/>
          </a:xfrm>
          <a:prstGeom prst="roundRect">
            <a:avLst/>
          </a:prstGeom>
          <a:solidFill>
            <a:srgbClr val="6AA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2474450" y="3993875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9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Exploratory analysis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849450" y="4048875"/>
            <a:ext cx="140000" cy="140000"/>
          </a:xfrm>
          <a:prstGeom prst="roundRect">
            <a:avLst/>
          </a:prstGeom>
          <a:solidFill>
            <a:srgbClr val="A6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4034450" y="3993875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9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Statistical tests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409450" y="4048875"/>
            <a:ext cx="140000" cy="140000"/>
          </a:xfrm>
          <a:prstGeom prst="roundRect">
            <a:avLst/>
          </a:prstGeom>
          <a:solidFill>
            <a:srgbClr val="1C3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594450" y="3993875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9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Predictive model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969450" y="4048875"/>
            <a:ext cx="140000" cy="140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7154450" y="3993875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9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Business deliverable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29450" y="4388875"/>
            <a:ext cx="76887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050" b="0" i="1" dirty="0">
                <a:solidFill>
                  <a:srgbClr val="595959"/>
                </a:solidFill>
                <a:latin typeface="+mn-lt"/>
              </a:rPr>
              <a:t>Note: the holdout year was used once, only after the model design was locked.</a:t>
            </a:r>
          </a:p>
        </p:txBody>
      </p:sp>
    </p:spTree>
    <p:extLst>
      <p:ext uri="{BB962C8B-B14F-4D97-AF65-F5344CB8AC3E}">
        <p14:creationId xmlns:p14="http://schemas.microsoft.com/office/powerpoint/2010/main" val="329937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Building</a:t>
            </a:r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29450" y="1879600"/>
            <a:ext cx="4000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50" b="1" i="0" dirty="0">
                <a:solidFill>
                  <a:srgbClr val="1A9988"/>
                </a:solidFill>
                <a:latin typeface="Lato"/>
                <a:ea typeface="Lato"/>
                <a:cs typeface="Lato"/>
              </a:rPr>
              <a:t>Explanatory Path: (why)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29450" y="2184400"/>
            <a:ext cx="2380000" cy="635000"/>
          </a:xfrm>
          <a:prstGeom prst="roundRect">
            <a:avLst/>
          </a:prstGeom>
          <a:solidFill>
            <a:srgbClr val="1A9988"/>
          </a:solidFill>
          <a:ln>
            <a:solidFill>
              <a:srgbClr val="1A9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</a:rPr>
              <a:t>Facility-clustered
logistic regression</a:t>
            </a:r>
          </a:p>
        </p:txBody>
      </p:sp>
      <p:sp>
        <p:nvSpPr>
          <p:cNvPr id="126" name="Right Arrow 125"/>
          <p:cNvSpPr/>
          <p:nvPr/>
        </p:nvSpPr>
        <p:spPr>
          <a:xfrm>
            <a:off x="3124450" y="2425700"/>
            <a:ext cx="160000" cy="15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3299450" y="2184400"/>
            <a:ext cx="2380000" cy="635000"/>
          </a:xfrm>
          <a:prstGeom prst="roundRect">
            <a:avLst/>
          </a:prstGeom>
          <a:solidFill>
            <a:srgbClr val="1A9988"/>
          </a:solidFill>
          <a:ln>
            <a:solidFill>
              <a:srgbClr val="1A9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</a:rPr>
              <a:t>Adjusted odds
ratios per factor</a:t>
            </a:r>
          </a:p>
        </p:txBody>
      </p:sp>
      <p:sp>
        <p:nvSpPr>
          <p:cNvPr id="128" name="Right Arrow 127"/>
          <p:cNvSpPr/>
          <p:nvPr/>
        </p:nvSpPr>
        <p:spPr>
          <a:xfrm>
            <a:off x="5694450" y="2425700"/>
            <a:ext cx="160000" cy="15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5869450" y="2184400"/>
            <a:ext cx="2380000" cy="635000"/>
          </a:xfrm>
          <a:prstGeom prst="roundRect">
            <a:avLst/>
          </a:prstGeom>
          <a:solidFill>
            <a:srgbClr val="1A9988"/>
          </a:solidFill>
          <a:ln>
            <a:solidFill>
              <a:srgbClr val="1A9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</a:rPr>
              <a:t>Diagnostics: VIF,
condition number, AIC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29450" y="3073400"/>
            <a:ext cx="4000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50" b="1" i="0" dirty="0">
                <a:solidFill>
                  <a:srgbClr val="1C3678"/>
                </a:solidFill>
                <a:latin typeface="Lato"/>
                <a:ea typeface="Lato"/>
                <a:cs typeface="Lato"/>
              </a:rPr>
              <a:t>Predictive Path: (how well)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29450" y="3403600"/>
            <a:ext cx="1760000" cy="635000"/>
          </a:xfrm>
          <a:prstGeom prst="roundRect">
            <a:avLst/>
          </a:prstGeom>
          <a:solidFill>
            <a:srgbClr val="1C3678"/>
          </a:solidFill>
          <a:ln>
            <a:solidFill>
              <a:srgbClr val="1C3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950" b="1" i="0" dirty="0">
                <a:solidFill>
                  <a:srgbClr val="FFFFFF"/>
                </a:solidFill>
              </a:rPr>
              <a:t>Baseline:
action + release only</a:t>
            </a:r>
          </a:p>
        </p:txBody>
      </p:sp>
      <p:sp>
        <p:nvSpPr>
          <p:cNvPr id="132" name="Right Arrow 131"/>
          <p:cNvSpPr/>
          <p:nvPr/>
        </p:nvSpPr>
        <p:spPr>
          <a:xfrm>
            <a:off x="2501450" y="3644900"/>
            <a:ext cx="126000" cy="15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2639450" y="3403600"/>
            <a:ext cx="1760000" cy="635000"/>
          </a:xfrm>
          <a:prstGeom prst="roundRect">
            <a:avLst/>
          </a:prstGeom>
          <a:solidFill>
            <a:srgbClr val="1C3678"/>
          </a:solidFill>
          <a:ln>
            <a:solidFill>
              <a:srgbClr val="1C3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950" b="1" i="0">
                <a:solidFill>
                  <a:srgbClr val="FFFFFF"/>
                </a:solidFill>
              </a:rPr>
              <a:t>Elastic-net:
15 predictors, tuned by
leave-one-transition-out CV</a:t>
            </a:r>
          </a:p>
        </p:txBody>
      </p:sp>
      <p:sp>
        <p:nvSpPr>
          <p:cNvPr id="134" name="Right Arrow 133"/>
          <p:cNvSpPr/>
          <p:nvPr/>
        </p:nvSpPr>
        <p:spPr>
          <a:xfrm>
            <a:off x="4411450" y="3644900"/>
            <a:ext cx="126000" cy="15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4549450" y="3403600"/>
            <a:ext cx="1760000" cy="635000"/>
          </a:xfrm>
          <a:prstGeom prst="roundRect">
            <a:avLst/>
          </a:prstGeom>
          <a:solidFill>
            <a:srgbClr val="1C3678"/>
          </a:solidFill>
          <a:ln>
            <a:solidFill>
              <a:srgbClr val="1C3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950" b="1" i="0">
                <a:solidFill>
                  <a:srgbClr val="FFFFFF"/>
                </a:solidFill>
              </a:rPr>
              <a:t>Refit on all
development data</a:t>
            </a:r>
          </a:p>
        </p:txBody>
      </p:sp>
      <p:sp>
        <p:nvSpPr>
          <p:cNvPr id="136" name="Right Arrow 135"/>
          <p:cNvSpPr/>
          <p:nvPr/>
        </p:nvSpPr>
        <p:spPr>
          <a:xfrm>
            <a:off x="6321450" y="3644900"/>
            <a:ext cx="126000" cy="15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6477000" y="3403600"/>
            <a:ext cx="1760000" cy="635000"/>
          </a:xfrm>
          <a:prstGeom prst="roundRect">
            <a:avLst/>
          </a:prstGeom>
          <a:solidFill>
            <a:srgbClr val="1C3678"/>
          </a:solidFill>
          <a:ln>
            <a:solidFill>
              <a:srgbClr val="1C3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buNone/>
            </a:pPr>
            <a:r>
              <a:rPr sz="950" b="1" i="0">
                <a:solidFill>
                  <a:srgbClr val="FFFFFF"/>
                </a:solidFill>
              </a:rPr>
              <a:t>Evaluate once on
sealed 2023-2024 holdout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29450" y="4318000"/>
            <a:ext cx="76887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150" b="1" i="0" dirty="0">
                <a:solidFill>
                  <a:srgbClr val="1A1A1A"/>
                </a:solidFill>
                <a:latin typeface="Lato"/>
                <a:ea typeface="Lato"/>
                <a:cs typeface="Lato"/>
              </a:rPr>
              <a:t>Why two paths:  </a:t>
            </a:r>
            <a:r>
              <a:rPr sz="1150" b="0" i="0" dirty="0">
                <a:solidFill>
                  <a:srgbClr val="1A1A1A"/>
                </a:solidFill>
                <a:latin typeface="Lato"/>
                <a:ea typeface="Lato"/>
                <a:cs typeface="Lato"/>
              </a:rPr>
              <a:t>RQ2 answers whether reported actions matter (an adjusted association, for explanation). RQ4 answers how well those factors can predict next year's outcome in advance (for a screening tool). The deck's Results reflect both.</a:t>
            </a:r>
          </a:p>
        </p:txBody>
      </p:sp>
      <p:sp>
        <p:nvSpPr>
          <p:cNvPr id="2" name="SectionPager">
            <a:extLst>
              <a:ext uri="{FF2B5EF4-FFF2-40B4-BE49-F238E27FC236}">
                <a16:creationId xmlns:a16="http://schemas.microsoft.com/office/drawing/2014/main" id="{4DCA1F74-23BB-4EF8-BD06-82CD9C615608}"/>
              </a:ext>
            </a:extLst>
          </p:cNvPr>
          <p:cNvSpPr txBox="1"/>
          <p:nvPr/>
        </p:nvSpPr>
        <p:spPr>
          <a:xfrm>
            <a:off x="6893559" y="1511300"/>
            <a:ext cx="15240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100">
                <a:solidFill>
                  <a:srgbClr val="767676"/>
                </a:solidFill>
                <a:latin typeface="Lato"/>
                <a:ea typeface="Lato"/>
                <a:cs typeface="Lato"/>
              </a:rPr>
              <a:t>1 of 2</a:t>
            </a:r>
          </a:p>
        </p:txBody>
      </p:sp>
    </p:spTree>
    <p:extLst>
      <p:ext uri="{BB962C8B-B14F-4D97-AF65-F5344CB8AC3E}">
        <p14:creationId xmlns:p14="http://schemas.microsoft.com/office/powerpoint/2010/main" val="117937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i="0"/>
              <a:t>Model Building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3590" y="2115723"/>
          <a:ext cx="7680960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Choice</a:t>
                      </a:r>
                    </a:p>
                  </a:txBody>
                  <a:tcPr marL="73152" marR="73152" marT="27432" marB="27432" anchor="ctr">
                    <a:solidFill>
                      <a:srgbClr val="1C36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Why it was chosen</a:t>
                      </a:r>
                    </a:p>
                  </a:txBody>
                  <a:tcPr marL="73152" marR="73152" marT="27432" marB="27432" anchor="ctr">
                    <a:solidFill>
                      <a:srgbClr val="1C36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What it protects against</a:t>
                      </a:r>
                    </a:p>
                  </a:txBody>
                  <a:tcPr marL="73152" marR="73152" marT="27432" marB="27432" anchor="ctr">
                    <a:solidFill>
                      <a:srgbClr val="1C36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Logistic regression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Outcome is binary; coefficients convert into explainable odds ratios.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1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Overly complex models that a business reader cannot interpret.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 dirty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Facility-clustered</a:t>
                      </a:r>
                    </a:p>
                    <a:p>
                      <a:pPr algn="l">
                        <a:buNone/>
                      </a:pPr>
                      <a:r>
                        <a:rPr sz="1000" b="1" i="0" dirty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standard errors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Facilities appear multiple times in the data.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1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Understated standard errors from treating repeated records as independent.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Holm correction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Five action-type comparisons share one reference group.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1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False positives from testing five hypotheses at once.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Elastic-net</a:t>
                      </a:r>
                    </a:p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logistic regression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Interpretable; handles 15 subsector and 5 action-type predictors that correlate with each other.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1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Overfitting to development-set noise.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 dirty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Out-of-time holdout</a:t>
                      </a:r>
                    </a:p>
                    <a:p>
                      <a:pPr algn="l">
                        <a:buNone/>
                      </a:pPr>
                      <a:r>
                        <a:rPr sz="1000" b="1" i="0" dirty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(2023 to 2024)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Mirrors real business use: train on the past, score the future.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1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Optimistic results from testing on data the model has already seen.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9450" y="4676043"/>
            <a:ext cx="7688700" cy="430000"/>
          </a:xfrm>
          <a:prstGeom prst="roundRect">
            <a:avLst/>
          </a:prstGeom>
          <a:solidFill>
            <a:srgbClr val="E9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buNone/>
            </a:pPr>
            <a:r>
              <a:rPr sz="1050" b="1" i="0">
                <a:solidFill>
                  <a:srgbClr val="1C3678"/>
                </a:solidFill>
              </a:rPr>
              <a:t>Diagnostics confirm the model is sound:  </a:t>
            </a:r>
            <a:r>
              <a:rPr sz="1050" b="0" i="0">
                <a:solidFill>
                  <a:srgbClr val="1A1A1A"/>
                </a:solidFill>
              </a:rPr>
              <a:t>maximum variance inflation factor about 2 (low multicollinearity); condition number 81 (stable); Akaike Information Criterion favors the quadratic production-ratio term over a linear one (150,795 vs 150,817).</a:t>
            </a:r>
          </a:p>
        </p:txBody>
      </p:sp>
      <p:sp>
        <p:nvSpPr>
          <p:cNvPr id="3" name="SectionPager">
            <a:extLst>
              <a:ext uri="{FF2B5EF4-FFF2-40B4-BE49-F238E27FC236}">
                <a16:creationId xmlns:a16="http://schemas.microsoft.com/office/drawing/2014/main" id="{52A809E4-F805-49DC-91F8-B7CC57622A02}"/>
              </a:ext>
            </a:extLst>
          </p:cNvPr>
          <p:cNvSpPr txBox="1"/>
          <p:nvPr/>
        </p:nvSpPr>
        <p:spPr>
          <a:xfrm>
            <a:off x="6893559" y="1511300"/>
            <a:ext cx="15240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100" dirty="0">
                <a:solidFill>
                  <a:srgbClr val="767676"/>
                </a:solidFill>
                <a:latin typeface="Lato"/>
                <a:ea typeface="Lato"/>
                <a:cs typeface="Lato"/>
              </a:rPr>
              <a:t>2 of 2</a:t>
            </a:r>
          </a:p>
        </p:txBody>
      </p:sp>
    </p:spTree>
    <p:extLst>
      <p:ext uri="{BB962C8B-B14F-4D97-AF65-F5344CB8AC3E}">
        <p14:creationId xmlns:p14="http://schemas.microsoft.com/office/powerpoint/2010/main" val="2052161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graphicFrame>
        <p:nvGraphicFramePr>
          <p:cNvPr id="130" name="Table 1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529948"/>
              </p:ext>
            </p:extLst>
          </p:nvPr>
        </p:nvGraphicFramePr>
        <p:xfrm>
          <a:off x="737190" y="2026362"/>
          <a:ext cx="768096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Metric</a:t>
                      </a:r>
                    </a:p>
                  </a:txBody>
                  <a:tcPr marL="73152" marR="73152" marT="27432" marB="27432" anchor="ctr">
                    <a:solidFill>
                      <a:srgbClr val="1C36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1C36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What it means</a:t>
                      </a:r>
                    </a:p>
                  </a:txBody>
                  <a:tcPr marL="73152" marR="73152" marT="27432" marB="27432" anchor="ctr">
                    <a:solidFill>
                      <a:srgbClr val="1C36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 dirty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Any reported action (odds ratio)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1.14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Modestly higher odds of reduction, after adjusting for other factors.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Material modification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39.0% rate (+7.6 pts vs no action)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Strongest action type.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Operating practice / training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35.5% rate (+4.2 pts vs no action)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Second-strongest action type.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Elastic-net model AUC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0.523 vs baseline 0.502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Slightly better than chance and the simple baseline.</a:t>
                      </a:r>
                    </a:p>
                  </a:txBody>
                  <a:tcPr marL="73152" marR="73152" marT="27432" marB="27432" anchor="ctr">
                    <a:solidFill>
                      <a:srgbClr val="E9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>
                          <a:solidFill>
                            <a:srgbClr val="1A9988"/>
                          </a:solidFill>
                          <a:latin typeface="Lato"/>
                          <a:ea typeface="Lato"/>
                          <a:cs typeface="Lato"/>
                        </a:rPr>
                        <a:t>Brier score (calibration)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0.218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dirty="0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</a:rPr>
                        <a:t>Reasonably well-calibrated probabilities.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1" name="Rounded Rectangle 130"/>
          <p:cNvSpPr/>
          <p:nvPr/>
        </p:nvSpPr>
        <p:spPr>
          <a:xfrm>
            <a:off x="729450" y="4503163"/>
            <a:ext cx="7688700" cy="560000"/>
          </a:xfrm>
          <a:prstGeom prst="roundRect">
            <a:avLst/>
          </a:prstGeom>
          <a:solidFill>
            <a:srgbClr val="E9EDEE"/>
          </a:solidFill>
          <a:ln w="12700">
            <a:solidFill>
              <a:srgbClr val="1C3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buNone/>
            </a:pPr>
            <a:r>
              <a:rPr sz="1250" b="1" i="1" dirty="0">
                <a:solidFill>
                  <a:srgbClr val="1C3678"/>
                </a:solidFill>
              </a:rPr>
              <a:t>The signal is real but modest. The model is useful for triage, not automation.</a:t>
            </a:r>
          </a:p>
        </p:txBody>
      </p:sp>
      <p:sp>
        <p:nvSpPr>
          <p:cNvPr id="4" name="SectionPager">
            <a:extLst>
              <a:ext uri="{FF2B5EF4-FFF2-40B4-BE49-F238E27FC236}">
                <a16:creationId xmlns:a16="http://schemas.microsoft.com/office/drawing/2014/main" id="{92ACD9C9-AB0E-4EB3-9E0C-83D6118BD1E8}"/>
              </a:ext>
            </a:extLst>
          </p:cNvPr>
          <p:cNvSpPr txBox="1"/>
          <p:nvPr/>
        </p:nvSpPr>
        <p:spPr>
          <a:xfrm>
            <a:off x="6893559" y="1511300"/>
            <a:ext cx="15240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100" dirty="0">
                <a:solidFill>
                  <a:srgbClr val="767676"/>
                </a:solidFill>
                <a:latin typeface="Lato"/>
                <a:ea typeface="Lato"/>
                <a:cs typeface="Lato"/>
              </a:rPr>
              <a:t>1 of 2</a:t>
            </a:r>
          </a:p>
        </p:txBody>
      </p:sp>
    </p:spTree>
    <p:extLst>
      <p:ext uri="{BB962C8B-B14F-4D97-AF65-F5344CB8AC3E}">
        <p14:creationId xmlns:p14="http://schemas.microsoft.com/office/powerpoint/2010/main" val="598535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i="0"/>
              <a:t>Results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29450" y="2098875"/>
          <a:ext cx="3700000" cy="17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18150" y="2098875"/>
          <a:ext cx="3700000" cy="17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3780" y="3908875"/>
            <a:ext cx="76887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Clr>
                <a:srgbClr val="1A9988"/>
              </a:buClr>
              <a:buSzPct val="70000"/>
              <a:buFont typeface="Arial"/>
              <a:buChar char="●"/>
            </a:pPr>
            <a:r>
              <a:rPr sz="1100" b="1" i="0">
                <a:solidFill>
                  <a:srgbClr val="1A1A1A"/>
                </a:solidFill>
                <a:latin typeface="Lato"/>
                <a:ea typeface="Lato"/>
                <a:cs typeface="Lato"/>
              </a:rPr>
              <a:t>Left: </a:t>
            </a:r>
            <a:r>
              <a:rPr sz="110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only material modification and operating practice/training (teal) separate from the other action types after correction; the rest are statistically indistinguishable from no action (grey).</a:t>
            </a:r>
          </a:p>
          <a:p>
            <a:pPr marL="182880" indent="-182880">
              <a:spcBef>
                <a:spcPts val="500"/>
              </a:spcBef>
              <a:buClr>
                <a:srgbClr val="1C3678"/>
              </a:buClr>
              <a:buSzPct val="70000"/>
              <a:buFont typeface="Arial"/>
              <a:buChar char="●"/>
            </a:pPr>
            <a:r>
              <a:rPr sz="1100" b="1" i="0">
                <a:solidFill>
                  <a:srgbClr val="1A1A1A"/>
                </a:solidFill>
                <a:latin typeface="Lato"/>
                <a:ea typeface="Lato"/>
                <a:cs typeface="Lato"/>
              </a:rPr>
              <a:t>Right: </a:t>
            </a:r>
            <a:r>
              <a:rPr sz="110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the ranked list concentrates hard-to-improve records near the top (73.9% vs a 68.0% base rate); the lift fades with depth, so review value is highest at the very top of the list.</a:t>
            </a:r>
          </a:p>
        </p:txBody>
      </p:sp>
      <p:sp>
        <p:nvSpPr>
          <p:cNvPr id="3" name="SectionPager">
            <a:extLst>
              <a:ext uri="{FF2B5EF4-FFF2-40B4-BE49-F238E27FC236}">
                <a16:creationId xmlns:a16="http://schemas.microsoft.com/office/drawing/2014/main" id="{93F15F07-21A5-4966-BE3B-B0DAB89D3A34}"/>
              </a:ext>
            </a:extLst>
          </p:cNvPr>
          <p:cNvSpPr txBox="1"/>
          <p:nvPr/>
        </p:nvSpPr>
        <p:spPr>
          <a:xfrm>
            <a:off x="6893559" y="1511300"/>
            <a:ext cx="15240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100">
                <a:solidFill>
                  <a:srgbClr val="767676"/>
                </a:solidFill>
                <a:latin typeface="Lato"/>
                <a:ea typeface="Lato"/>
                <a:cs typeface="Lato"/>
              </a:rPr>
              <a:t>2 of 2</a:t>
            </a:r>
          </a:p>
        </p:txBody>
      </p:sp>
    </p:spTree>
    <p:extLst>
      <p:ext uri="{BB962C8B-B14F-4D97-AF65-F5344CB8AC3E}">
        <p14:creationId xmlns:p14="http://schemas.microsoft.com/office/powerpoint/2010/main" val="869111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and User Benefit</a:t>
            </a:r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729450" y="2098875"/>
            <a:ext cx="1832175" cy="2250000"/>
          </a:xfrm>
          <a:prstGeom prst="roundRect">
            <a:avLst/>
          </a:prstGeom>
          <a:solidFill>
            <a:srgbClr val="E9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849450" y="2208875"/>
            <a:ext cx="340000" cy="340000"/>
          </a:xfrm>
          <a:prstGeom prst="ellipse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49450" y="2568875"/>
            <a:ext cx="159217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150" b="1" i="0">
                <a:solidFill>
                  <a:srgbClr val="1A9988"/>
                </a:solidFill>
                <a:latin typeface="Lato"/>
                <a:ea typeface="Lato"/>
                <a:cs typeface="Lato"/>
              </a:rPr>
              <a:t>Triage With</a:t>
            </a:r>
          </a:p>
          <a:p>
            <a:pPr>
              <a:buNone/>
            </a:pPr>
            <a:r>
              <a:rPr sz="1150" b="1" i="0">
                <a:solidFill>
                  <a:srgbClr val="1A9988"/>
                </a:solidFill>
                <a:latin typeface="Lato"/>
                <a:ea typeface="Lato"/>
                <a:cs typeface="Lato"/>
              </a:rPr>
              <a:t>the Model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49450" y="3108875"/>
            <a:ext cx="1592175" cy="1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9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Top 5% of ranked records show a 73.9% non-reduction rate vs a 68.0% base rate. Hold review capacity fixed and work the list top-down each cycle.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2681625" y="2098875"/>
            <a:ext cx="1832175" cy="2250000"/>
          </a:xfrm>
          <a:prstGeom prst="roundRect">
            <a:avLst/>
          </a:prstGeom>
          <a:solidFill>
            <a:srgbClr val="E9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2801625" y="2208875"/>
            <a:ext cx="340000" cy="340000"/>
          </a:xfrm>
          <a:prstGeom prst="ellipse">
            <a:avLst/>
          </a:prstGeom>
          <a:solidFill>
            <a:srgbClr val="6AA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801625" y="2568875"/>
            <a:ext cx="159217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150" b="1" i="0">
                <a:solidFill>
                  <a:srgbClr val="6AA4C8"/>
                </a:solidFill>
                <a:latin typeface="Lato"/>
                <a:ea typeface="Lato"/>
                <a:cs typeface="Lato"/>
              </a:rPr>
              <a:t>Focus Prevention</a:t>
            </a:r>
          </a:p>
          <a:p>
            <a:pPr>
              <a:buNone/>
            </a:pPr>
            <a:r>
              <a:rPr sz="1150" b="1" i="0">
                <a:solidFill>
                  <a:srgbClr val="6AA4C8"/>
                </a:solidFill>
                <a:latin typeface="Lato"/>
                <a:ea typeface="Lato"/>
                <a:cs typeface="Lato"/>
              </a:rPr>
              <a:t>Where It Works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801625" y="3108875"/>
            <a:ext cx="1592175" cy="1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9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Only material modification and operating practice/training show a confirmed lift after correction. Prioritize funding and pilots there; share results across sites.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633800" y="2098875"/>
            <a:ext cx="1832175" cy="2250000"/>
          </a:xfrm>
          <a:prstGeom prst="roundRect">
            <a:avLst/>
          </a:prstGeom>
          <a:solidFill>
            <a:srgbClr val="E9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4753800" y="2208875"/>
            <a:ext cx="340000" cy="340000"/>
          </a:xfrm>
          <a:prstGeom prst="ellipse">
            <a:avLst/>
          </a:prstGeom>
          <a:solidFill>
            <a:srgbClr val="A6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753800" y="2568875"/>
            <a:ext cx="159217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150" b="1" i="0">
                <a:solidFill>
                  <a:srgbClr val="A67A0A"/>
                </a:solidFill>
                <a:latin typeface="Lato"/>
                <a:ea typeface="Lato"/>
                <a:cs typeface="Lato"/>
              </a:rPr>
              <a:t>Weight by</a:t>
            </a:r>
          </a:p>
          <a:p>
            <a:pPr>
              <a:buNone/>
            </a:pPr>
            <a:r>
              <a:rPr sz="1150" b="1" i="0">
                <a:solidFill>
                  <a:srgbClr val="A67A0A"/>
                </a:solidFill>
                <a:latin typeface="Lato"/>
                <a:ea typeface="Lato"/>
                <a:cs typeface="Lato"/>
              </a:rPr>
              <a:t>Pounds at Risk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753800" y="3108875"/>
            <a:ext cx="1592175" cy="1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9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Every scored record also carries its release quantity. Rank by risk probability multiplied by release volume, so effort follows impact, not just likelihood.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585975" y="2098875"/>
            <a:ext cx="1832175" cy="2250000"/>
          </a:xfrm>
          <a:prstGeom prst="roundRect">
            <a:avLst/>
          </a:prstGeom>
          <a:solidFill>
            <a:srgbClr val="E9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6705975" y="2208875"/>
            <a:ext cx="340000" cy="340000"/>
          </a:xfrm>
          <a:prstGeom prst="ellipse">
            <a:avLst/>
          </a:prstGeom>
          <a:solidFill>
            <a:srgbClr val="1C3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705975" y="2568875"/>
            <a:ext cx="159217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150" b="1" i="0">
                <a:solidFill>
                  <a:srgbClr val="1C3678"/>
                </a:solidFill>
                <a:latin typeface="Lato"/>
                <a:ea typeface="Lato"/>
                <a:cs typeface="Lato"/>
              </a:rPr>
              <a:t>Benchmark</a:t>
            </a:r>
          </a:p>
          <a:p>
            <a:pPr>
              <a:buNone/>
            </a:pPr>
            <a:r>
              <a:rPr sz="1150" b="1" i="0">
                <a:solidFill>
                  <a:srgbClr val="1C3678"/>
                </a:solidFill>
                <a:latin typeface="Lato"/>
                <a:ea typeface="Lato"/>
                <a:cs typeface="Lato"/>
              </a:rPr>
              <a:t>Peers, Not Zero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705975" y="3108875"/>
            <a:ext cx="1592175" cy="1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9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Reduction rates span about 15 points across subsectors and rise over time. Compare each facility to its peer group and to trend, not to last year alone.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29450" y="4448875"/>
            <a:ext cx="7688700" cy="600000"/>
          </a:xfrm>
          <a:prstGeom prst="roundRect">
            <a:avLst/>
          </a:prstGeom>
          <a:solidFill>
            <a:srgbClr val="1C3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Ins="146304" bIns="36576" rtlCol="0" anchor="ctr"/>
          <a:lstStyle/>
          <a:p>
            <a:pPr algn="ctr">
              <a:buNone/>
            </a:pPr>
            <a:r>
              <a:rPr sz="1150" b="1" i="0">
                <a:solidFill>
                  <a:srgbClr val="FFFFFF"/>
                </a:solidFill>
              </a:rPr>
              <a:t>Human experts stay in control.  </a:t>
            </a:r>
            <a:r>
              <a:rPr sz="1150" b="0" i="1">
                <a:solidFill>
                  <a:srgbClr val="FFFFFF"/>
                </a:solidFill>
              </a:rPr>
              <a:t>the model tells the team where to look first.</a:t>
            </a:r>
          </a:p>
          <a:p>
            <a:pPr algn="ctr">
              <a:spcBef>
                <a:spcPts val="300"/>
              </a:spcBef>
              <a:buNone/>
            </a:pPr>
            <a:r>
              <a:rPr sz="950" b="1" i="0">
                <a:solidFill>
                  <a:srgbClr val="A2FFE8"/>
                </a:solidFill>
              </a:rPr>
              <a:t>Green initiative:  </a:t>
            </a:r>
            <a:r>
              <a:rPr sz="950" b="0" i="1">
                <a:solidFill>
                  <a:srgbClr val="A2FFE8"/>
                </a:solidFill>
              </a:rPr>
              <a:t>connect the ranked worklist to green investment planning, incentive tracking, and sustainability reporting.</a:t>
            </a:r>
          </a:p>
        </p:txBody>
      </p:sp>
    </p:spTree>
    <p:extLst>
      <p:ext uri="{BB962C8B-B14F-4D97-AF65-F5344CB8AC3E}">
        <p14:creationId xmlns:p14="http://schemas.microsoft.com/office/powerpoint/2010/main" val="1978572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729450" y="2218875"/>
            <a:ext cx="2480000" cy="2820000"/>
          </a:xfrm>
          <a:prstGeom prst="roundRect">
            <a:avLst/>
          </a:prstGeom>
          <a:solidFill>
            <a:srgbClr val="E9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8000" bIns="91440" rtlCol="0" anchor="t"/>
          <a:lstStyle/>
          <a:p>
            <a:pPr algn="ctr">
              <a:buNone/>
            </a:pPr>
            <a:r>
              <a:rPr sz="1300" b="1" i="0" dirty="0">
                <a:solidFill>
                  <a:srgbClr val="1A9988"/>
                </a:solidFill>
              </a:rPr>
              <a:t>Key Findings</a:t>
            </a:r>
          </a:p>
          <a:p>
            <a:pPr marL="182880" indent="-182880">
              <a:spcBef>
                <a:spcPts val="600"/>
              </a:spcBef>
              <a:buClr>
                <a:srgbClr val="1A9988"/>
              </a:buClr>
              <a:buSzPct val="55000"/>
              <a:buFont typeface="Arial"/>
              <a:buChar char="●"/>
            </a:pPr>
            <a:r>
              <a:rPr sz="1100" b="0" i="0" dirty="0">
                <a:solidFill>
                  <a:srgbClr val="1A1A1A"/>
                </a:solidFill>
              </a:rPr>
              <a:t>Reported pollution-prevention actions contain useful information.</a:t>
            </a:r>
          </a:p>
          <a:p>
            <a:pPr marL="182880" indent="-182880">
              <a:spcBef>
                <a:spcPts val="600"/>
              </a:spcBef>
              <a:buClr>
                <a:srgbClr val="1A9988"/>
              </a:buClr>
              <a:buSzPct val="55000"/>
              <a:buFont typeface="Arial"/>
              <a:buChar char="●"/>
            </a:pPr>
            <a:r>
              <a:rPr sz="1100" b="0" i="0" dirty="0">
                <a:solidFill>
                  <a:srgbClr val="1A1A1A"/>
                </a:solidFill>
              </a:rPr>
              <a:t>Strongest signals: material modification and operating practice/training.</a:t>
            </a:r>
          </a:p>
          <a:p>
            <a:pPr marL="182880" indent="-182880">
              <a:spcBef>
                <a:spcPts val="600"/>
              </a:spcBef>
              <a:buClr>
                <a:srgbClr val="1A9988"/>
              </a:buClr>
              <a:buSzPct val="55000"/>
              <a:buFont typeface="Arial"/>
              <a:buChar char="●"/>
            </a:pPr>
            <a:r>
              <a:rPr sz="1100" b="0" i="0" dirty="0">
                <a:solidFill>
                  <a:srgbClr val="1A1A1A"/>
                </a:solidFill>
              </a:rPr>
              <a:t>Year and industry matter, so raw before-and-after comparisons are not enough.</a:t>
            </a:r>
          </a:p>
          <a:p>
            <a:pPr marL="182880" indent="-182880">
              <a:spcBef>
                <a:spcPts val="600"/>
              </a:spcBef>
              <a:buClr>
                <a:srgbClr val="1A9988"/>
              </a:buClr>
              <a:buSzPct val="55000"/>
              <a:buFont typeface="Arial"/>
              <a:buChar char="●"/>
            </a:pPr>
            <a:r>
              <a:rPr sz="1100" b="0" i="0" dirty="0">
                <a:solidFill>
                  <a:srgbClr val="1A1A1A"/>
                </a:solidFill>
              </a:rPr>
              <a:t>Best use: a transparent decision-support tool for EHS prioritization.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323550" y="2218875"/>
            <a:ext cx="2480000" cy="2820000"/>
          </a:xfrm>
          <a:prstGeom prst="roundRect">
            <a:avLst/>
          </a:prstGeom>
          <a:solidFill>
            <a:srgbClr val="E9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>
              <a:buNone/>
            </a:pPr>
            <a:r>
              <a:rPr sz="1300" b="1" i="0" dirty="0">
                <a:solidFill>
                  <a:srgbClr val="A67A0A"/>
                </a:solidFill>
              </a:rPr>
              <a:t>Limitations</a:t>
            </a:r>
          </a:p>
          <a:p>
            <a:pPr marL="182880" indent="-182880">
              <a:spcBef>
                <a:spcPts val="600"/>
              </a:spcBef>
              <a:buClr>
                <a:srgbClr val="A67A0A"/>
              </a:buClr>
              <a:buSzPct val="55000"/>
              <a:buFont typeface="Arial"/>
              <a:buChar char="●"/>
            </a:pPr>
            <a:r>
              <a:rPr sz="1100" b="0" i="0" dirty="0">
                <a:solidFill>
                  <a:srgbClr val="1A1A1A"/>
                </a:solidFill>
              </a:rPr>
              <a:t>Observational study; results are associations, not proof of cause and effect.</a:t>
            </a:r>
          </a:p>
          <a:p>
            <a:pPr marL="182880" indent="-182880">
              <a:spcBef>
                <a:spcPts val="600"/>
              </a:spcBef>
              <a:buClr>
                <a:srgbClr val="A67A0A"/>
              </a:buClr>
              <a:buSzPct val="55000"/>
              <a:buFont typeface="Arial"/>
              <a:buChar char="●"/>
            </a:pPr>
            <a:r>
              <a:rPr sz="1100" b="0" i="0" dirty="0">
                <a:solidFill>
                  <a:srgbClr val="1A1A1A"/>
                </a:solidFill>
              </a:rPr>
              <a:t>Predictive lift is modest.</a:t>
            </a:r>
            <a:endParaRPr lang="en-US" sz="1100" b="0" i="0" dirty="0">
              <a:solidFill>
                <a:srgbClr val="1A1A1A"/>
              </a:solidFill>
            </a:endParaRPr>
          </a:p>
          <a:p>
            <a:pPr marL="182880" indent="-182880">
              <a:spcBef>
                <a:spcPts val="600"/>
              </a:spcBef>
              <a:buClr>
                <a:srgbClr val="A67A0A"/>
              </a:buClr>
              <a:buSzPct val="55000"/>
              <a:buFont typeface="Arial"/>
              <a:buChar char="●"/>
            </a:pPr>
            <a:r>
              <a:rPr lang="en-IN" sz="1100" dirty="0">
                <a:solidFill>
                  <a:srgbClr val="1A1A1A"/>
                </a:solidFill>
              </a:rPr>
              <a:t>Reported actions are rare, under 5 percent of records, which limits precision.</a:t>
            </a:r>
            <a:endParaRPr sz="1100" dirty="0">
              <a:solidFill>
                <a:srgbClr val="1A1A1A"/>
              </a:solidFill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5917650" y="2218875"/>
            <a:ext cx="2480000" cy="2820000"/>
          </a:xfrm>
          <a:prstGeom prst="roundRect">
            <a:avLst/>
          </a:prstGeom>
          <a:solidFill>
            <a:srgbClr val="E9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>
              <a:buNone/>
            </a:pPr>
            <a:r>
              <a:rPr sz="1300" b="1" i="0">
                <a:solidFill>
                  <a:srgbClr val="1C3678"/>
                </a:solidFill>
              </a:rPr>
              <a:t>Future Work</a:t>
            </a:r>
          </a:p>
          <a:p>
            <a:pPr marL="182880" indent="-182880">
              <a:spcBef>
                <a:spcPts val="600"/>
              </a:spcBef>
              <a:buClr>
                <a:srgbClr val="1C3678"/>
              </a:buClr>
              <a:buSzPct val="55000"/>
              <a:buFont typeface="Arial"/>
              <a:buChar char="●"/>
            </a:pPr>
            <a:r>
              <a:rPr sz="1100" b="0" i="0">
                <a:solidFill>
                  <a:srgbClr val="1A1A1A"/>
                </a:solidFill>
              </a:rPr>
              <a:t>Add production, cost, plant process, and sustainability investment data where available.</a:t>
            </a:r>
          </a:p>
        </p:txBody>
      </p:sp>
    </p:spTree>
    <p:extLst>
      <p:ext uri="{BB962C8B-B14F-4D97-AF65-F5344CB8AC3E}">
        <p14:creationId xmlns:p14="http://schemas.microsoft.com/office/powerpoint/2010/main" val="629116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Bibliography</a:t>
            </a: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sz="1000" b="0" i="1">
                <a:solidFill>
                  <a:srgbClr val="595959"/>
                </a:solidFill>
              </a:rPr>
              <a:t>APA 7th edition. Full DOIs are provided in the written report.</a:t>
            </a:r>
            <a:endParaRPr sz="1000">
              <a:solidFill>
                <a:srgbClr val="595959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729450" y="2338875"/>
            <a:ext cx="3750000" cy="269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spcAft>
                <a:spcPts val="500"/>
              </a:spcAft>
              <a:buNone/>
            </a:pPr>
            <a:r>
              <a:rPr sz="8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U.S. Environmental Protection Agency. (2025a). Pollution prevention and source reduction assistance. https://www.epa.gov/p2</a:t>
            </a:r>
          </a:p>
          <a:p>
            <a:pPr marL="182880" indent="-182880">
              <a:spcAft>
                <a:spcPts val="500"/>
              </a:spcAft>
              <a:buNone/>
            </a:pPr>
            <a:r>
              <a:rPr sz="8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U.S. Environmental Protection Agency. (2025c). TRI Basic Plus data files: Calendar years 1987-present.</a:t>
            </a:r>
          </a:p>
          <a:p>
            <a:pPr marL="182880" indent="-182880">
              <a:spcAft>
                <a:spcPts val="500"/>
              </a:spcAft>
              <a:buNone/>
            </a:pPr>
            <a:r>
              <a:rPr sz="8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Hamilton, J. T. (1995). Pollution as news: Media and stock market reactions to the Toxics Release Inventory data. Journal of Environmental Economics and Management, 28(1), 98-113.</a:t>
            </a:r>
          </a:p>
          <a:p>
            <a:pPr marL="182880" indent="-182880">
              <a:spcAft>
                <a:spcPts val="500"/>
              </a:spcAft>
              <a:buNone/>
            </a:pPr>
            <a:r>
              <a:rPr sz="8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Konar, S., &amp; Cohen, M. A. (1997). Information as regulation: The effect of community right-to-know laws on toxic emissions. Journal of Environmental Economics and Management, 32(1), 109-124.</a:t>
            </a:r>
          </a:p>
          <a:p>
            <a:pPr marL="182880" indent="-182880">
              <a:spcAft>
                <a:spcPts val="500"/>
              </a:spcAft>
              <a:buNone/>
            </a:pPr>
            <a:r>
              <a:rPr sz="8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Gamper-Rabindran, S. (2006). Did the EPA's Toxics Release Inventory reduce pollution? Evidence from a regression discontinuity design. Journal of Environmental Economics and Management, 51(3), 303-328.</a:t>
            </a:r>
          </a:p>
          <a:p>
            <a:pPr marL="182880" indent="-182880">
              <a:spcAft>
                <a:spcPts val="500"/>
              </a:spcAft>
              <a:buNone/>
            </a:pPr>
            <a:r>
              <a:rPr sz="8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King, A. A., &amp; Lenox, M. J. (2002). Exploring the locus of profitable pollution reduction. Management Science, 48(2), 289-299.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668150" y="2338875"/>
            <a:ext cx="3750000" cy="269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spcAft>
                <a:spcPts val="500"/>
              </a:spcAft>
              <a:buNone/>
            </a:pPr>
            <a:r>
              <a:rPr sz="8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Cagno, E., Trucco, P., &amp; Tardini, L. (2005). Cleaner production and profitability: Analysis of 134 industrial pollution prevention project reports. Journal of Cleaner Production, 13(6), 593-605.</a:t>
            </a:r>
          </a:p>
          <a:p>
            <a:pPr marL="182880" indent="-182880">
              <a:spcAft>
                <a:spcPts val="500"/>
              </a:spcAft>
              <a:buNone/>
            </a:pPr>
            <a:r>
              <a:rPr sz="8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Ranson, M., Cox, B., Keenan, C., &amp; Teitelbaum, D. (2015). The impact of pollution prevention on toxic environmental releases from U.S. manufacturing facilities. Environmental Science &amp; Technology, 49(21), 12951-12957.</a:t>
            </a:r>
          </a:p>
          <a:p>
            <a:pPr marL="182880" indent="-182880">
              <a:spcAft>
                <a:spcPts val="500"/>
              </a:spcAft>
              <a:buNone/>
            </a:pPr>
            <a:r>
              <a:rPr sz="8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Cameron, A. C., &amp; Miller, D. L. (2015). A practitioner's guide to cluster-robust inference. Journal of Human Resources, 50(2), 317-372.</a:t>
            </a:r>
          </a:p>
          <a:p>
            <a:pPr marL="182880" indent="-182880">
              <a:spcAft>
                <a:spcPts val="500"/>
              </a:spcAft>
              <a:buNone/>
            </a:pPr>
            <a:r>
              <a:rPr sz="8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Holm, S. (1979). A simple sequentially rejective multiple test procedure. Scandinavian Journal of Statistics, 6(2), 65-70.</a:t>
            </a:r>
          </a:p>
          <a:p>
            <a:pPr marL="182880" indent="-182880">
              <a:spcAft>
                <a:spcPts val="500"/>
              </a:spcAft>
              <a:buNone/>
            </a:pPr>
            <a:r>
              <a:rPr sz="8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Steyerberg, E. W., Vickers, A. J., Cook, N. R., Gerds, T., Gonen, M., Obuchowski, N., Pencina, M. J., &amp; Kattan, M. W. (2010). Assessing the performance of prediction models: A framework for traditional and novel measures. Epidemiology, 21(1), 128-138.</a:t>
            </a:r>
          </a:p>
          <a:p>
            <a:pPr marL="182880" indent="-182880">
              <a:spcAft>
                <a:spcPts val="500"/>
              </a:spcAft>
              <a:buNone/>
            </a:pPr>
            <a:r>
              <a:rPr sz="850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Van Calster, B., McLernon, D. J., van Smeden, M., Wynants, L., &amp; Steyerberg, E. W. (2019). Calibration: The Achilles heel of predictive analytics. BMC Medicine, 17, Article 230.</a:t>
            </a:r>
          </a:p>
        </p:txBody>
      </p:sp>
    </p:spTree>
    <p:extLst>
      <p:ext uri="{BB962C8B-B14F-4D97-AF65-F5344CB8AC3E}">
        <p14:creationId xmlns:p14="http://schemas.microsoft.com/office/powerpoint/2010/main" val="663580379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 [1788634862584]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Ralew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a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7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3A101D-FDAC-4A84-A59A-5CCF5B60D51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23dba22-c80f-48d9-90f6-5b7c52121f5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6489</Words>
  <Application>Microsoft Office PowerPoint</Application>
  <PresentationFormat>On-screen Show (16:9)</PresentationFormat>
  <Paragraphs>457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Lato</vt:lpstr>
      <vt:lpstr>Times New Roman</vt:lpstr>
      <vt:lpstr>Raleway</vt:lpstr>
      <vt:lpstr>Arial</vt:lpstr>
      <vt:lpstr>Streamline [1788634862584]</vt:lpstr>
      <vt:lpstr>Pollution-Prevention Actions and Next-Year Toxic Release Reduction in U.S. Manufacturing  Final Presentation</vt:lpstr>
      <vt:lpstr>Executive Summary</vt:lpstr>
      <vt:lpstr>Gap Analysis</vt:lpstr>
      <vt:lpstr>Research Questions</vt:lpstr>
      <vt:lpstr>Research Questions</vt:lpstr>
      <vt:lpstr>Data Description and EDA</vt:lpstr>
      <vt:lpstr>Architecture diagram/Workflow</vt:lpstr>
      <vt:lpstr>Model Building</vt:lpstr>
      <vt:lpstr>Model Building</vt:lpstr>
      <vt:lpstr>Results</vt:lpstr>
      <vt:lpstr>Results</vt:lpstr>
      <vt:lpstr>Implementation and User Benefit</vt:lpstr>
      <vt:lpstr>Conclusion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Somnath Das</cp:lastModifiedBy>
  <cp:revision>23</cp:revision>
  <dcterms:modified xsi:type="dcterms:W3CDTF">2026-09-06T15:20:15Z</dcterms:modified>
</cp:coreProperties>
</file>